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6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a76376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pic>
        <p:nvPicPr>
          <p:cNvPr id="3" name="Image 1" descr="/tmp/rasterized-gradient-bb5aef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3757" y="1644997"/>
            <a:ext cx="533400" cy="533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330998" y="2368897"/>
            <a:ext cx="248185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내부통제 플랫폼</a:t>
            </a:r>
            <a:endParaRPr lang="en-US" sz="2550" dirty="0"/>
          </a:p>
        </p:txBody>
      </p:sp>
      <p:sp>
        <p:nvSpPr>
          <p:cNvPr id="5" name="Text 1"/>
          <p:cNvSpPr/>
          <p:nvPr/>
        </p:nvSpPr>
        <p:spPr>
          <a:xfrm>
            <a:off x="3367128" y="2883247"/>
            <a:ext cx="2409596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ITGC 통제 관리의 </a:t>
            </a:r>
            <a:r>
              <a:rPr lang="en-US" sz="12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</a:t>
            </a: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 </a:t>
            </a:r>
            <a:r>
              <a:rPr lang="en-US" sz="1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</a:t>
            </a:r>
            <a:endParaRPr lang="en-US" sz="1200" dirty="0"/>
          </a:p>
        </p:txBody>
      </p:sp>
      <p:pic>
        <p:nvPicPr>
          <p:cNvPr id="6" name="Image 2" descr="/tmp/rasterized-gradient-869b174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0" y="3469928"/>
            <a:ext cx="952500" cy="2857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1732" y="4768304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buNone/>
            </a:pPr>
            <a:r>
              <a:rPr lang="en-US" sz="82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www.snowball1566.com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7625" cy="5143500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6250" y="266700"/>
            <a:ext cx="42359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내부통제 운영의 </a:t>
            </a:r>
            <a:r>
              <a:rPr lang="en-US" sz="21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Pain Point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76250" y="1851720"/>
            <a:ext cx="2603450" cy="1291530"/>
          </a:xfrm>
          <a:prstGeom prst="roundRect">
            <a:avLst>
              <a:gd name="adj" fmla="val 737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95300" y="1851720"/>
            <a:ext cx="0" cy="129153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42950" y="2080320"/>
            <a:ext cx="2150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엑셀 기반 수동 관리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742950" y="2518470"/>
            <a:ext cx="215031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문서/증적 수동 취합으로 인한 </a:t>
            </a:r>
            <a:r>
              <a:rPr lang="en-US" sz="975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관리 오류</a:t>
            </a: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빈발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270200" y="1851720"/>
            <a:ext cx="2603450" cy="1291530"/>
          </a:xfrm>
          <a:prstGeom prst="roundRect">
            <a:avLst>
              <a:gd name="adj" fmla="val 737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89250" y="1851720"/>
            <a:ext cx="0" cy="1291530"/>
          </a:xfrm>
          <a:prstGeom prst="line">
            <a:avLst/>
          </a:prstGeom>
          <a:noFill/>
          <a:ln w="38100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36900" y="2080320"/>
            <a:ext cx="2150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현황 파악 어려움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3536900" y="2518470"/>
            <a:ext cx="215031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진행률, 결함 현황 등 </a:t>
            </a:r>
            <a:r>
              <a:rPr lang="en-US" sz="975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모니터링 불가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064151" y="1851720"/>
            <a:ext cx="2603450" cy="1291530"/>
          </a:xfrm>
          <a:prstGeom prst="roundRect">
            <a:avLst>
              <a:gd name="adj" fmla="val 737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83201" y="1851720"/>
            <a:ext cx="0" cy="1291530"/>
          </a:xfrm>
          <a:prstGeom prst="line">
            <a:avLst/>
          </a:prstGeom>
          <a:noFill/>
          <a:ln w="38100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330851" y="2080320"/>
            <a:ext cx="21503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 대응 부담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330851" y="2518470"/>
            <a:ext cx="215031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표준화되지 않은 조서로 </a:t>
            </a:r>
            <a:r>
              <a:rPr lang="en-US" sz="975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감사 대응</a:t>
            </a:r>
            <a:r>
              <a:rPr lang="en-US" sz="975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많은 시간 소요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76250" y="4271070"/>
            <a:ext cx="8191500" cy="491430"/>
          </a:xfrm>
          <a:prstGeom prst="roundRect">
            <a:avLst>
              <a:gd name="adj" fmla="val 15506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90538" y="4271070"/>
            <a:ext cx="0" cy="491430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56368" y="4423470"/>
            <a:ext cx="78598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Snowball 시스템</a:t>
            </a: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이 모든 문제를 해결할 수 있습니다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331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Snowball </a:t>
            </a:r>
            <a:r>
              <a:rPr lang="en-US" sz="195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시스템 개요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646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내부통제 전 영역을 하나의 플랫폼에서 통합 관리</a:t>
            </a:r>
            <a:endParaRPr lang="en-US" sz="900" dirty="0"/>
          </a:p>
        </p:txBody>
      </p:sp>
      <p:pic>
        <p:nvPicPr>
          <p:cNvPr id="4" name="Image 0" descr="/home/claude/snowball-ppt/img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79761"/>
            <a:ext cx="4891980" cy="34581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01580" y="1844427"/>
            <a:ext cx="3261420" cy="623888"/>
          </a:xfrm>
          <a:prstGeom prst="roundRect">
            <a:avLst>
              <a:gd name="adj" fmla="val 1221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515868" y="1844427"/>
            <a:ext cx="0" cy="623887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663505" y="1977777"/>
            <a:ext cx="3025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663505" y="2177802"/>
            <a:ext cx="302546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ELC, TLC, ITGC 평가 결과 통합 조회 및 종합 리포트 생성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5501580" y="2582614"/>
            <a:ext cx="3261420" cy="652463"/>
          </a:xfrm>
          <a:prstGeom prst="roundRect">
            <a:avLst>
              <a:gd name="adj" fmla="val 116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515868" y="2582614"/>
            <a:ext cx="0" cy="652462"/>
          </a:xfrm>
          <a:prstGeom prst="line">
            <a:avLst/>
          </a:prstGeom>
          <a:noFill/>
          <a:ln w="28575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663505" y="2715964"/>
            <a:ext cx="30254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RCM 관리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5663505" y="2944564"/>
            <a:ext cx="302546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위험통제매트릭스(RCM) 데이터 조회 및 중앙 관리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501580" y="3349377"/>
            <a:ext cx="3261420" cy="623888"/>
          </a:xfrm>
          <a:prstGeom prst="roundRect">
            <a:avLst>
              <a:gd name="adj" fmla="val 1221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515868" y="3349377"/>
            <a:ext cx="0" cy="623887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5663505" y="3482727"/>
            <a:ext cx="30254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ELC / TLC / ITGC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5663505" y="3682752"/>
            <a:ext cx="302546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전사/거래/IT 수준 통제 설계평가 및 운영평가 수행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67750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28600"/>
            <a:ext cx="43331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내부평가 </a:t>
            </a:r>
            <a:r>
              <a:rPr lang="en-US" sz="195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대시보드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81000" y="533400"/>
            <a:ext cx="8646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회사별/통제 영역별 평가 현황을 한눈에 파악</a:t>
            </a:r>
            <a:endParaRPr lang="en-US" sz="900" dirty="0"/>
          </a:p>
        </p:txBody>
      </p:sp>
      <p:pic>
        <p:nvPicPr>
          <p:cNvPr id="5" name="Image 1" descr="/home/claude/snowball-ppt/img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757511"/>
            <a:ext cx="5299770" cy="23028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09370" y="1642021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5923657" y="1642021"/>
            <a:ext cx="0" cy="561975"/>
          </a:xfrm>
          <a:prstGeom prst="line">
            <a:avLst/>
          </a:prstGeom>
          <a:noFill/>
          <a:ln w="28575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6052245" y="1756321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회사별 현황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052245" y="1956346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다중 법인/회사 통제 현황 통합 조회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5909370" y="2299246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7"/>
          <p:cNvSpPr/>
          <p:nvPr/>
        </p:nvSpPr>
        <p:spPr>
          <a:xfrm>
            <a:off x="5923657" y="2299246"/>
            <a:ext cx="0" cy="561975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/>
          <p:cNvSpPr/>
          <p:nvPr/>
        </p:nvSpPr>
        <p:spPr>
          <a:xfrm>
            <a:off x="6052245" y="2413546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진행률 시각화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052245" y="2613571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설계/운영 평가 진행 상태 실시간 확인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5909370" y="2956471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E6F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5923657" y="2956471"/>
            <a:ext cx="0" cy="56197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6052245" y="3070771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영역별 구분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052245" y="3270796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ELC/TLC/ITGC 통제 영역 색상 구분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5909370" y="3613696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5"/>
          <p:cNvSpPr/>
          <p:nvPr/>
        </p:nvSpPr>
        <p:spPr>
          <a:xfrm>
            <a:off x="5923657" y="3613696"/>
            <a:ext cx="0" cy="561975"/>
          </a:xfrm>
          <a:prstGeom prst="line">
            <a:avLst/>
          </a:prstGeom>
          <a:noFill/>
          <a:ln w="28575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6052245" y="3727996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빠른 액션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052245" y="3928021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설계평가 확인, 운영평가 계속 버튼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331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RCM </a:t>
            </a:r>
            <a:r>
              <a:rPr lang="en-US" sz="195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조회/평가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646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Control Matrix 중앙 관리 및 평가 연계</a:t>
            </a:r>
            <a:endParaRPr lang="en-US" sz="900" dirty="0"/>
          </a:p>
        </p:txBody>
      </p:sp>
      <p:pic>
        <p:nvPicPr>
          <p:cNvPr id="4" name="Image 0" descr="/home/claude/snowball-ppt/img_r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651843"/>
            <a:ext cx="5299770" cy="2514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9370" y="1642021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923657" y="1642021"/>
            <a:ext cx="0" cy="561975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052245" y="1756321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RCM 업로드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52245" y="1956346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 기반 RCM 파일 업로드 및 버전 관리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909370" y="2299246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923657" y="2299246"/>
            <a:ext cx="0" cy="561975"/>
          </a:xfrm>
          <a:prstGeom prst="line">
            <a:avLst/>
          </a:prstGeom>
          <a:noFill/>
          <a:ln w="28575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052245" y="2413546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카테고리 분류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52245" y="2613571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ELC/TLC/ITGC 자동 분류 및 필터링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909370" y="2956471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923657" y="2956471"/>
            <a:ext cx="0" cy="561975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052245" y="3070771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권한 관리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52245" y="3270796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읽기/관리자 권한 구분, 접근 로그 기록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909370" y="3613696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923657" y="3613696"/>
            <a:ext cx="0" cy="56197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052245" y="3727996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평가 연계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52245" y="3928021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시작/운영 계속 버튼으로 평가 진행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331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통제 </a:t>
            </a:r>
            <a:r>
              <a:rPr lang="en-US" sz="195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설계평가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646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통제활동 설명 검토 및 설계 효과성 평가</a:t>
            </a:r>
            <a:endParaRPr lang="en-US" sz="900" dirty="0"/>
          </a:p>
        </p:txBody>
      </p:sp>
      <p:pic>
        <p:nvPicPr>
          <p:cNvPr id="4" name="Image 0" descr="/home/claude/snowball-ppt/img_des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01378"/>
            <a:ext cx="5299770" cy="28150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9370" y="1642021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923657" y="1642021"/>
            <a:ext cx="0" cy="561975"/>
          </a:xfrm>
          <a:prstGeom prst="line">
            <a:avLst/>
          </a:prstGeom>
          <a:noFill/>
          <a:ln w="28575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052245" y="1756321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통제활동 설명 검토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52245" y="1956346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통제활동 내용과 실제 수행 절차 비교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909370" y="2299246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923657" y="2299246"/>
            <a:ext cx="0" cy="561975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052245" y="2413546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현실 반영도 평가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52245" y="2613571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 절차와 실무 일치 여부 선택 평가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909370" y="2956471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E6F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923657" y="2956471"/>
            <a:ext cx="0" cy="56197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052245" y="3070771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설계 효과성 종합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52245" y="3270796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증빙 및 결과 입력 후 종합 판정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909370" y="3613696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923657" y="3613696"/>
            <a:ext cx="0" cy="561975"/>
          </a:xfrm>
          <a:prstGeom prst="line">
            <a:avLst/>
          </a:prstGeom>
          <a:noFill/>
          <a:ln w="28575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052245" y="3727996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3333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평가 기준 안내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52245" y="3928021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기준 팝업으로 일관된 평가 지원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28600"/>
            <a:ext cx="43331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통제 </a:t>
            </a:r>
            <a:r>
              <a:rPr lang="en-US" sz="195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운영평가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381000" y="533400"/>
            <a:ext cx="864679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 테스트 및 운영 효과성 평가</a:t>
            </a:r>
            <a:endParaRPr lang="en-US" sz="900" dirty="0"/>
          </a:p>
        </p:txBody>
      </p:sp>
      <p:pic>
        <p:nvPicPr>
          <p:cNvPr id="4" name="Image 0" descr="/home/claude/snowball-ppt/img_ope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01378"/>
            <a:ext cx="5299770" cy="28150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09370" y="1642021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5923657" y="1642021"/>
            <a:ext cx="0" cy="561975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052245" y="1756321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테스트 절차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052245" y="1956346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통제별 테스트 절차 자동 생성 및 안내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909370" y="2299246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923657" y="2299246"/>
            <a:ext cx="0" cy="561975"/>
          </a:xfrm>
          <a:prstGeom prst="line">
            <a:avLst/>
          </a:prstGeom>
          <a:noFill/>
          <a:ln w="28575">
            <a:solidFill>
              <a:srgbClr val="FF66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052245" y="2413546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표본 크기 설정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52245" y="2613571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통제 주기에 따른 권장 표본수 자동 계산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909370" y="2956471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923657" y="2956471"/>
            <a:ext cx="0" cy="561975"/>
          </a:xfrm>
          <a:prstGeom prst="line">
            <a:avLst/>
          </a:prstGeom>
          <a:noFill/>
          <a:ln w="2857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052245" y="3070771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증빙 및 결과 입력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052245" y="3270796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표본별 증빙 내용과 Exception 여부 기록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909370" y="3613696"/>
            <a:ext cx="2853630" cy="561975"/>
          </a:xfrm>
          <a:prstGeom prst="roundRect">
            <a:avLst>
              <a:gd name="adj" fmla="val 13559"/>
            </a:avLst>
          </a:prstGeom>
          <a:solidFill>
            <a:srgbClr val="E6F9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5923657" y="3613696"/>
            <a:ext cx="0" cy="56197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052245" y="3727996"/>
            <a:ext cx="264838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전체 결론 자동 산출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052245" y="3928021"/>
            <a:ext cx="26483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Effective/Exception 결과 자동 집계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56f129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625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6250" y="228600"/>
            <a:ext cx="423595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배포 </a:t>
            </a:r>
            <a:r>
              <a:rPr lang="en-US" sz="195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옵션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76250" y="533400"/>
            <a:ext cx="84524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 환경에 맞춘 유연한 선택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76250" y="979140"/>
            <a:ext cx="3676650" cy="382146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9050">
            <a:solidFill>
              <a:srgbClr val="0066C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95300" y="998190"/>
            <a:ext cx="3638550" cy="672405"/>
          </a:xfrm>
          <a:prstGeom prst="rect">
            <a:avLst/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33794" y="1150590"/>
            <a:ext cx="336156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 (SaaS)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33794" y="1384846"/>
            <a:ext cx="33615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구독형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47700" y="2428875"/>
            <a:ext cx="340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경제성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7700" y="2617440"/>
            <a:ext cx="340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투자 부담 최소화 (월/연 구독)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47700" y="2865090"/>
            <a:ext cx="340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신속성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7700" y="3053655"/>
            <a:ext cx="340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인프라 구축 없이 즉시 운영 가능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47700" y="3301305"/>
            <a:ext cx="340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업데이트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7700" y="3489871"/>
            <a:ext cx="340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업데이트 및 유지보수 자동 적용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95300" y="4381500"/>
            <a:ext cx="3638550" cy="400050"/>
          </a:xfrm>
          <a:prstGeom prst="rect">
            <a:avLst/>
          </a:prstGeom>
          <a:solidFill>
            <a:srgbClr val="E8F4F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400550" y="2718346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F0F0F0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991100" y="979140"/>
            <a:ext cx="3676650" cy="382146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9050">
            <a:solidFill>
              <a:srgbClr val="FF66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010150" y="998190"/>
            <a:ext cx="3638550" cy="672405"/>
          </a:xfrm>
          <a:prstGeom prst="rect">
            <a:avLst/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148644" y="1150590"/>
            <a:ext cx="336156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On-Premise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148644" y="1384846"/>
            <a:ext cx="33615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구축형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162550" y="2428875"/>
            <a:ext cx="340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보안성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162550" y="2617440"/>
            <a:ext cx="340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내부망 운영으로 보안 정책 준수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162550" y="2865090"/>
            <a:ext cx="340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연동성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162550" y="3053655"/>
            <a:ext cx="340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ERP/레거시 시스템 직접 연계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162550" y="3301305"/>
            <a:ext cx="34004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커스터마이징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62550" y="3489871"/>
            <a:ext cx="34004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상황에 맞춘 맞춤형 구성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010150" y="4381500"/>
            <a:ext cx="3638550" cy="400050"/>
          </a:xfrm>
          <a:prstGeom prst="rect">
            <a:avLst/>
          </a:prstGeom>
          <a:solidFill>
            <a:srgbClr val="FFF4E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81155" y="228600"/>
            <a:ext cx="438169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9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도입 </a:t>
            </a:r>
            <a:r>
              <a:rPr lang="en-US" sz="195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기대 효과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76250" y="1667917"/>
            <a:ext cx="1933575" cy="1653480"/>
          </a:xfrm>
          <a:prstGeom prst="roundRect">
            <a:avLst>
              <a:gd name="adj" fmla="val 5761"/>
            </a:avLst>
          </a:prstGeom>
          <a:solidFill>
            <a:srgbClr val="E8F4FC"/>
          </a:solidFill>
          <a:ln w="9525">
            <a:solidFill>
              <a:srgbClr val="CCE5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33488" y="184889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09674" y="2515642"/>
            <a:ext cx="66672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업무 효율화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916731" y="2873722"/>
            <a:ext cx="10526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반복적 수동 업무 제거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빠르고 정확한 결과 도출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562225" y="1667917"/>
            <a:ext cx="1933575" cy="1653480"/>
          </a:xfrm>
          <a:prstGeom prst="roundRect">
            <a:avLst>
              <a:gd name="adj" fmla="val 5761"/>
            </a:avLst>
          </a:prstGeom>
          <a:solidFill>
            <a:srgbClr val="FFF4E6"/>
          </a:solidFill>
          <a:ln w="9525">
            <a:solidFill>
              <a:srgbClr val="FFE0B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19463" y="184889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051740" y="2515642"/>
            <a:ext cx="95439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 대응력 강화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989195" y="2873722"/>
            <a:ext cx="10796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표준화된 조서 자동 생성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 대응 시간 대폭 단축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48200" y="1667917"/>
            <a:ext cx="1933575" cy="1653480"/>
          </a:xfrm>
          <a:prstGeom prst="roundRect">
            <a:avLst>
              <a:gd name="adj" fmla="val 5761"/>
            </a:avLst>
          </a:prstGeom>
          <a:solidFill>
            <a:srgbClr val="E8F4FC"/>
          </a:solidFill>
          <a:ln w="9525">
            <a:solidFill>
              <a:srgbClr val="CCE5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405438" y="184889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37715" y="2515642"/>
            <a:ext cx="95439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운영 가시성 확보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150769" y="2873722"/>
            <a:ext cx="9284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대시보드 제공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결함 현황 즉시 파악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734175" y="1667917"/>
            <a:ext cx="1933575" cy="1653480"/>
          </a:xfrm>
          <a:prstGeom prst="roundRect">
            <a:avLst>
              <a:gd name="adj" fmla="val 5761"/>
            </a:avLst>
          </a:prstGeom>
          <a:solidFill>
            <a:srgbClr val="FFF4E6"/>
          </a:solidFill>
          <a:ln w="9525">
            <a:solidFill>
              <a:srgbClr val="FFE0B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91413" y="1848892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FF66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23690" y="2515642"/>
            <a:ext cx="95439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리스크 관리 강화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223233" y="2873722"/>
            <a:ext cx="9554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체계적 결함 추적</a:t>
            </a:r>
            <a:endParaRPr lang="en-US" sz="750" dirty="0"/>
          </a:p>
          <a:p>
            <a:pPr marL="0" indent="0" algn="ctr">
              <a:lnSpc>
                <a:spcPts val="1050"/>
              </a:lnSpc>
              <a:spcBef>
                <a:spcPts val="450"/>
              </a:spcBef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시정 조치 완료율 향상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6250" y="4341614"/>
            <a:ext cx="8191500" cy="458986"/>
          </a:xfrm>
          <a:prstGeom prst="roundRect">
            <a:avLst>
              <a:gd name="adj" fmla="val 16602"/>
            </a:avLst>
          </a:prstGeom>
          <a:solidFill>
            <a:srgbClr val="F8F9FA"/>
          </a:solidFill>
          <a:ln w="9525">
            <a:solidFill>
              <a:srgbClr val="E0E0E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7223" y="4484489"/>
            <a:ext cx="786955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자동화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975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표준화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975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가시성</a:t>
            </a:r>
            <a:r>
              <a:rPr lang="en-US" sz="97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내부통제 역량 극대화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01c3e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pic>
        <p:nvPicPr>
          <p:cNvPr id="3" name="Image 1" descr="/tmp/rasterized-gradient-85d203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6907" y="1439168"/>
            <a:ext cx="476250" cy="4762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43788" y="2124968"/>
            <a:ext cx="22564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50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내부통제의 </a:t>
            </a:r>
            <a:r>
              <a:rPr lang="en-US" sz="165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새로운 기준</a:t>
            </a:r>
            <a:endParaRPr lang="en-US" sz="1650" dirty="0"/>
          </a:p>
        </p:txBody>
      </p:sp>
      <p:pic>
        <p:nvPicPr>
          <p:cNvPr id="5" name="Image 2" descr="/tmp/rasterized-gradient-7fbd7d8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0" y="2544068"/>
            <a:ext cx="952500" cy="285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2770733" y="278219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E8F4FC"/>
          </a:solidFill>
          <a:ln w="9525">
            <a:solidFill>
              <a:srgbClr val="CCE5F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3139776" y="2782193"/>
            <a:ext cx="121959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675" dirty="0"/>
          </a:p>
        </p:txBody>
      </p:sp>
      <p:sp>
        <p:nvSpPr>
          <p:cNvPr id="8" name="Text 3"/>
          <p:cNvSpPr/>
          <p:nvPr/>
        </p:nvSpPr>
        <p:spPr>
          <a:xfrm>
            <a:off x="3139776" y="2921198"/>
            <a:ext cx="12195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www.snowball1566.com</a:t>
            </a:r>
            <a:endParaRPr lang="en-US" sz="825" dirty="0"/>
          </a:p>
        </p:txBody>
      </p:sp>
      <p:sp>
        <p:nvSpPr>
          <p:cNvPr id="9" name="Text 4"/>
          <p:cNvSpPr/>
          <p:nvPr/>
        </p:nvSpPr>
        <p:spPr>
          <a:xfrm>
            <a:off x="4690318" y="2782193"/>
            <a:ext cx="285750" cy="285750"/>
          </a:xfrm>
          <a:prstGeom prst="roundRect">
            <a:avLst>
              <a:gd name="adj" fmla="val 320000"/>
            </a:avLst>
          </a:prstGeom>
          <a:solidFill>
            <a:srgbClr val="FFF4E6"/>
          </a:solidFill>
          <a:ln w="9525">
            <a:solidFill>
              <a:srgbClr val="FFE0B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5058300" y="2782193"/>
            <a:ext cx="13278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675" dirty="0"/>
          </a:p>
        </p:txBody>
      </p:sp>
      <p:sp>
        <p:nvSpPr>
          <p:cNvPr id="11" name="Text 6"/>
          <p:cNvSpPr/>
          <p:nvPr/>
        </p:nvSpPr>
        <p:spPr>
          <a:xfrm>
            <a:off x="5058300" y="2921198"/>
            <a:ext cx="13278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snowball1566@gmail.com</a:t>
            </a:r>
            <a:endParaRPr lang="en-US" sz="825" dirty="0"/>
          </a:p>
        </p:txBody>
      </p:sp>
      <p:sp>
        <p:nvSpPr>
          <p:cNvPr id="12" name="Text 7"/>
          <p:cNvSpPr/>
          <p:nvPr/>
        </p:nvSpPr>
        <p:spPr>
          <a:xfrm>
            <a:off x="3571726" y="3334643"/>
            <a:ext cx="2000399" cy="369540"/>
          </a:xfrm>
          <a:prstGeom prst="roundRect">
            <a:avLst>
              <a:gd name="adj" fmla="val 56706"/>
            </a:avLst>
          </a:prstGeom>
          <a:solidFill>
            <a:srgbClr val="0066C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3823756" y="3439418"/>
            <a:ext cx="14963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바로 상담을 시작하세요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41732" y="4794945"/>
            <a:ext cx="88605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2024 Snowball. All rights reserved.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</Words>
  <Application>Microsoft Office PowerPoint</Application>
  <PresentationFormat>화면 슬라이드 쇼(16:9)</PresentationFormat>
  <Paragraphs>108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Snowball 내부통제 플랫폼</dc:title>
  <dc:subject>내부통제 플랫폼 소개</dc:subject>
  <dc:creator>Snowball</dc:creator>
  <cp:lastModifiedBy>윤유주</cp:lastModifiedBy>
  <cp:revision>1</cp:revision>
  <dcterms:created xsi:type="dcterms:W3CDTF">2025-11-26T14:52:05Z</dcterms:created>
  <dcterms:modified xsi:type="dcterms:W3CDTF">2025-11-26T14:56:22Z</dcterms:modified>
</cp:coreProperties>
</file>