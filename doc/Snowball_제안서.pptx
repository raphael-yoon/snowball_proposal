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386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657600"/>
            <a:ext cx="3657600" cy="3657600"/>
          </a:xfrm>
          <a:prstGeom prst="ellipse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D7E5"/>
                </a:solidFill>
              </a:rPr>
              <a:t>Internal Control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흔들림 없는 내부통제,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0D4E8"/>
                </a:solidFill>
              </a:rPr>
              <a:t>Snowball이 귀사의 완벽한 'SHIELD'가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E3EE"/>
                </a:solidFill>
              </a:rPr>
              <a:t>해소되지 않는 IT 전문 인력의 갈증과 수동 관리의 한계,
Snowball의 세 가지 솔루션이 실질적인 성과로 증명해 드립니다.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26517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5265"/>
                </a:solidFill>
              </a:rPr>
              <a:t>Track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전문가 컨설팅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297680"/>
            <a:ext cx="2651760" cy="822960"/>
          </a:xfrm>
          <a:prstGeom prst="rect">
            <a:avLst/>
          </a:prstGeom>
          <a:solidFill>
            <a:srgbClr val="3A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Track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내부통제 시스템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4297680"/>
            <a:ext cx="2651760" cy="822960"/>
          </a:xfrm>
          <a:prstGeom prst="rect">
            <a:avLst/>
          </a:prstGeom>
          <a:solidFill>
            <a:srgbClr val="3A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정보보호공시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C55"/>
                </a:solidFill>
              </a:rPr>
              <a:t>⚠️  모든 상장사 정보보호공시 의무화 완벽 대응 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B2C4"/>
                </a:solidFill>
              </a:rPr>
              <a:t>Snowball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C4D8"/>
                </a:solidFill>
              </a:rPr>
              <a:t>Why Snowball?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Snowball, 타협 없는 내부통제의 해답입니다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E3EE"/>
                </a:solidFill>
              </a:rPr>
              <a:t>단순한 평가 대행이나 조각난 시스템만으로는 '완벽한 감사 방어'를 이룰 수 없습니다.
Snowball은 업계 유일의 하이브리드 모델로 귀사의 리스크를 끝까지 책임집니다.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2468880" cy="1188720"/>
          </a:xfrm>
          <a:prstGeom prst="rect">
            <a:avLst/>
          </a:prstGeom>
          <a:solidFill>
            <a:srgbClr val="3A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93C5FD"/>
                </a:solidFill>
              </a:rP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운영 비용 절감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331720"/>
            <a:ext cx="2468880" cy="1188720"/>
          </a:xfrm>
          <a:prstGeom prst="rect">
            <a:avLst/>
          </a:prstGeom>
          <a:solidFill>
            <a:srgbClr val="3A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423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EE7B7"/>
                </a:solidFill>
              </a:rP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내부통제 모니터링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2468880" cy="1188720"/>
          </a:xfrm>
          <a:prstGeom prst="rect">
            <a:avLst/>
          </a:prstGeom>
          <a:solidFill>
            <a:srgbClr val="3A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DD875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감사인 질의 대응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331720"/>
            <a:ext cx="2468880" cy="1188720"/>
          </a:xfrm>
          <a:prstGeom prst="rect">
            <a:avLst/>
          </a:prstGeom>
          <a:solidFill>
            <a:srgbClr val="3A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423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5B4FC"/>
                </a:solidFill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업무 단절 위험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5212080" cy="2651760"/>
          </a:xfrm>
          <a:prstGeom prst="rect">
            <a:avLst/>
          </a:prstGeom>
          <a:solidFill>
            <a:srgbClr val="386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669"/>
                </a:solidFill>
              </a:rPr>
              <a:t>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시스템과 인력의 '유기적 결합'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434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E3EE"/>
                </a:solidFill>
              </a:rPr>
              <a:t>좋은 시스템도 운영할 사람이 없으면 껍데기에 불과합니다. Snowball은 시스템과 전문 운영 인력을 동시에 제공하여 내부통제가 멈추지 않고 스스로 정교해지게 만듭니다.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66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6EE7B7"/>
                </a:solidFill>
              </a:rPr>
              <a:t>✓  </a:t>
            </a:r>
            <a:r>
              <a:rPr sz="1000">
                <a:solidFill>
                  <a:srgbClr val="9CC8D8"/>
                </a:solidFill>
              </a:rPr>
              <a:t>시스템 구축과 운영 인력 동시 해결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6EE7B7"/>
                </a:solidFill>
              </a:rPr>
              <a:t>✓  </a:t>
            </a:r>
            <a:r>
              <a:rPr sz="1000">
                <a:solidFill>
                  <a:srgbClr val="9CC8D8"/>
                </a:solidFill>
              </a:rPr>
              <a:t>단절 없는 원스톱 내부통제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703320"/>
            <a:ext cx="5212080" cy="2651760"/>
          </a:xfrm>
          <a:prstGeom prst="rect">
            <a:avLst/>
          </a:prstGeom>
          <a:solidFill>
            <a:srgbClr val="386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75669"/>
                </a:solidFill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IT 10년 + 감사 10년의 통찰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434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E3EE"/>
                </a:solidFill>
              </a:rPr>
              <a:t>현장을 알기에 가장 효율적인 통제안을 구축하고, 감사를 알기에 이슈를 사전에 원천 봉쇄합니다. 막연한 자문이 아닌, 실무자가 즉시 실행 가능한 '답'을 드립니다.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6EE7B7"/>
                </a:solidFill>
              </a:rPr>
              <a:t>✓  </a:t>
            </a:r>
            <a:r>
              <a:rPr sz="1000">
                <a:solidFill>
                  <a:srgbClr val="9CC8D8"/>
                </a:solidFill>
              </a:rPr>
              <a:t>현장과 감사 대응을 모두 경험한 20년 경력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6EE7B7"/>
                </a:solidFill>
              </a:rPr>
              <a:t>✓  </a:t>
            </a:r>
            <a:r>
              <a:rPr sz="1000">
                <a:solidFill>
                  <a:srgbClr val="9CC8D8"/>
                </a:solidFill>
              </a:rPr>
              <a:t>감사인 지적 사항 선제적 발굴 및 차단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내부통제팀이 마주한 불편한 진실, 이제 끊어내야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상장사 내부통제를 위협하는 세 가지 핵심 결핍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47472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475669"/>
                </a:solidFill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265"/>
                </a:solidFill>
              </a:rPr>
              <a:t>불가능에 가까운
'감사 전문' IT 인재 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단순 IT 개발자가 아닌, 감사 언어를 이해하는 전문 인력을 구하는 것은 하늘의 별 따기입니다. 채용 후에도 반복되는 업무 과부하와 이직은 통제 체계의 치명적인 공백을 초래합니다.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17320"/>
            <a:ext cx="347472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475669"/>
                </a:solidFill>
              </a:rP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31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통제력을 상실한
'엑셀 표류기'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2004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수만 건의 데이터와 버전이 뒤섞인 엑셀 기반의 수동 관리는 내부통제의 무덤입니다. 끝없는 단순 취합 업무는 통제팀의 시야를 가리고, 실질적인 결함 리스크를 방치하게 만듭니다.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474720" cy="5029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475669"/>
                </a:solidFill>
              </a:rPr>
              <a:t>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331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상시 공시 의무화,
'준비 안 된 투명성'의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32004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정보보호 공시는 더 이상 선택이 아닙니다. 투자액과 인력 현황을 투명하게 공개해야 하는 상황에서, 데이터의 정합성을 증명하지 못하면 기업 신뢰도에 치명적인 타격을 입게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05840" cy="25603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6459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외부의 조언자를 넘어, 귀사 내부통제팀의 실질적인 '실행 주체'가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7E5"/>
                </a:solidFill>
              </a:rPr>
              <a:t>전문가 컨설팅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연간 운영 비용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전문가 직접 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75669"/>
                </a:solidFill>
              </a:rPr>
              <a:t>연 약 1.2억 + 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86000"/>
            <a:ext cx="4480560" cy="347472"/>
          </a:xfrm>
          <a:prstGeom prst="rect">
            <a:avLst/>
          </a:prstGeom>
          <a:solidFill>
            <a:srgbClr val="A0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인력 확보 +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65"/>
                </a:solidFill>
              </a:rPr>
              <a:t>Snowball 컨설팅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C5265"/>
                </a:solidFill>
              </a:rPr>
              <a:t>연 약 0.3억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1143000" cy="34747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136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65"/>
                </a:solidFill>
              </a:rPr>
              <a:t>인건비 1/4 절감!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※ 인건비 및 부대비용 포함 기준 (추정치)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417320"/>
            <a:ext cx="55778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서비스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2C5265"/>
                </a:solidFill>
              </a:rPr>
              <a:t>✓  </a:t>
            </a:r>
            <a:r>
              <a:rPr sz="1200">
                <a:solidFill>
                  <a:srgbClr val="475669"/>
                </a:solidFill>
              </a:rPr>
              <a:t>연간 감사 계획 수립 및 리스크 평가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C5265"/>
                </a:solidFill>
              </a:rPr>
              <a:t>✓  </a:t>
            </a:r>
            <a:r>
              <a:rPr sz="1200">
                <a:solidFill>
                  <a:srgbClr val="475669"/>
                </a:solidFill>
              </a:rPr>
              <a:t>IT일반통제(ITGC) 설계 및 운영 평가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C5265"/>
                </a:solidFill>
              </a:rPr>
              <a:t>✓  </a:t>
            </a:r>
            <a:r>
              <a:rPr sz="1200">
                <a:solidFill>
                  <a:srgbClr val="475669"/>
                </a:solidFill>
              </a:rPr>
              <a:t>통제 모니터링 및 이슈 대응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C5265"/>
                </a:solidFill>
              </a:rPr>
              <a:t>✓  </a:t>
            </a:r>
            <a:r>
              <a:rPr sz="1200">
                <a:solidFill>
                  <a:srgbClr val="475669"/>
                </a:solidFill>
              </a:rPr>
              <a:t>외부감사 대응 지원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C5265"/>
                </a:solidFill>
              </a:rPr>
              <a:t>✓  </a:t>
            </a:r>
            <a:r>
              <a:rPr sz="1200">
                <a:solidFill>
                  <a:srgbClr val="475669"/>
                </a:solidFill>
              </a:rPr>
              <a:t>미비점 관리 및 개선과제 추진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C5265"/>
                </a:solidFill>
              </a:rPr>
              <a:t>✓  </a:t>
            </a:r>
            <a:r>
              <a:rPr sz="1200">
                <a:solidFill>
                  <a:srgbClr val="475669"/>
                </a:solidFill>
              </a:rPr>
              <a:t>내부통제 체계 고도화 자문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5196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기존 PA 서비스와의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669"/>
                </a:solidFill>
              </a:rPr>
              <a:t>투입 시점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754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내부평가 시즌만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연중 상시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669"/>
                </a:solidFill>
              </a:rPr>
              <a:t>서비스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1389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테스트 수행·정리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감사 계획~종료 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229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669"/>
                </a:solidFill>
              </a:rPr>
              <a:t>이슈 발생 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5229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추가 계약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5229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즉시 대응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07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669"/>
                </a:solidFill>
              </a:rPr>
              <a:t>비용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9070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프로젝트 단위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907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월 정액 (예측 가능)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05840" cy="25603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요금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In-Scope 시스템 수 기준 산정 · 맞춤 견적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요금은 계약 시점의 평가 대상(In-Scope) 시스템 수를 기준으로 산정됩니다.
동일한 시스템 수라도 규모·복잡도·도입 시점에 따라 제안이 달라집니다. 투명한 상담을 통해 맞춤 견적을 제안해 드립니다.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4630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티어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03120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30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In-Scope 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56692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주요 포함 범위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2103120"/>
            <a:ext cx="15544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0" y="213055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견적 문의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78608"/>
            <a:ext cx="146304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2578608"/>
            <a:ext cx="219456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578608"/>
            <a:ext cx="566928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20" y="2578608"/>
            <a:ext cx="155448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517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651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5개 이하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ITGC 설계·운영평가, 외부감사 대응, 연간 계획 수립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2715768"/>
            <a:ext cx="1097280" cy="38404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27340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문의하기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01568"/>
            <a:ext cx="14630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401568"/>
            <a:ext cx="2194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401568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32720" y="3401568"/>
            <a:ext cx="1554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474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Advanced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474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6~15개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Standard 전체 + 미비점 추적 관리, 리스크 심층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0" y="3538727"/>
            <a:ext cx="1097280" cy="38404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35570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문의하기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24528"/>
            <a:ext cx="146304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4224528"/>
            <a:ext cx="219456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4224528"/>
            <a:ext cx="566928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32720" y="4224528"/>
            <a:ext cx="155448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297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Enterprise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16개 이상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Advanced 전체 + 전담 인력 배치, 커스텀 보고서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4361688"/>
            <a:ext cx="1097280" cy="38404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43799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문의하기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265"/>
                </a:solidFill>
              </a:rPr>
              <a:t>💡 Snowball 컨설팅 비용은 '정보보호 투자액'으로 인정됩니다. 서비스 도입만으로도 공시 지표 향상에 기여합니다.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05840" cy="25603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Track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내부통제 시스템 — 수동의 한계를 시스템으로 극복합니다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엑셀 표류기를 끝내는 체계적 내부통제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75669"/>
                </a:solidFill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실시간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ICFR 전 영역 통제 수행 현황 및
결함 현황을 한눈에 파악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75669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RCM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위험통제매트릭스 중앙화,
엑셀 업로드·버전 관리 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75669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통제 운영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증빙 첨부·테스트 수행 결과
자동 집계 및 결함 추적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75669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공시 데이터 연계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정보보호 투자액·인력 현황
자동 추출 → Track C 연계</a:t>
            </a:r>
          </a:p>
        </p:txBody>
      </p:sp>
      <p:pic>
        <p:nvPicPr>
          <p:cNvPr id="22" name="Picture 2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23360"/>
            <a:ext cx="5303520" cy="2468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492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669"/>
                </a:solidFill>
              </a:rPr>
              <a:t>실시간 대시보드</a:t>
            </a:r>
          </a:p>
        </p:txBody>
      </p:sp>
      <p:pic>
        <p:nvPicPr>
          <p:cNvPr id="24" name="Picture 23" descr="r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23360"/>
            <a:ext cx="5303520" cy="2468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6492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669"/>
                </a:solidFill>
              </a:rPr>
              <a:t>RCM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265"/>
                </a:solidFill>
              </a:rPr>
              <a:t>📌 기존 엑셀 RCM 데이터를 그대로 이관하여 즉시 활용 가능합니다.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05840" cy="25603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정보보호공시 시스템 — 의무화 시대, 완벽한 대응 체계를 구축하세요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C55"/>
                </a:solidFill>
              </a:rPr>
              <a:t>⚠️ 모든 상장사 정보보호공시 의무화 — Snowball이 완벽 대응합니다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4114800" cy="2286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⚖️  공시 의무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 b="1">
                <a:solidFill>
                  <a:srgbClr val="EF4444"/>
                </a:solidFill>
              </a:rPr>
              <a:t>!  </a:t>
            </a:r>
            <a:r>
              <a:rPr sz="1150">
                <a:solidFill>
                  <a:srgbClr val="475669"/>
                </a:solidFill>
              </a:rPr>
              <a:t>정보보호 투자액 공시 (연간)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EF4444"/>
                </a:solidFill>
              </a:rPr>
              <a:t>!  </a:t>
            </a:r>
            <a:r>
              <a:rPr sz="1150">
                <a:solidFill>
                  <a:srgbClr val="475669"/>
                </a:solidFill>
              </a:rPr>
              <a:t>전담 인력 현황 공시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EF4444"/>
                </a:solidFill>
              </a:rPr>
              <a:t>!  </a:t>
            </a:r>
            <a:r>
              <a:rPr sz="1150">
                <a:solidFill>
                  <a:srgbClr val="475669"/>
                </a:solidFill>
              </a:rPr>
              <a:t>정보보호 인증 취득 내역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EF4444"/>
                </a:solidFill>
              </a:rPr>
              <a:t>!  </a:t>
            </a:r>
            <a:r>
              <a:rPr sz="1150">
                <a:solidFill>
                  <a:srgbClr val="475669"/>
                </a:solidFill>
              </a:rPr>
              <a:t>미공시 시 기업 신뢰도 리스크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417320"/>
            <a:ext cx="6492240" cy="228600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🛡️  Snowball Track C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6126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 b="1">
                <a:solidFill>
                  <a:srgbClr val="2C5265"/>
                </a:solidFill>
              </a:rPr>
              <a:t>✓  </a:t>
            </a:r>
            <a:r>
              <a:rPr sz="1150">
                <a:solidFill>
                  <a:srgbClr val="475669"/>
                </a:solidFill>
              </a:rPr>
              <a:t>정보보호 투자액 자동 집계 및 검증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2C5265"/>
                </a:solidFill>
              </a:rPr>
              <a:t>✓  </a:t>
            </a:r>
            <a:r>
              <a:rPr sz="1150">
                <a:solidFill>
                  <a:srgbClr val="475669"/>
                </a:solidFill>
              </a:rPr>
              <a:t>전담 인력 현황 실시간 관리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2C5265"/>
                </a:solidFill>
              </a:rPr>
              <a:t>✓  </a:t>
            </a:r>
            <a:r>
              <a:rPr sz="1150">
                <a:solidFill>
                  <a:srgbClr val="475669"/>
                </a:solidFill>
              </a:rPr>
              <a:t>인증 취득 이력 통합 관리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2C5265"/>
                </a:solidFill>
              </a:rPr>
              <a:t>✓  </a:t>
            </a:r>
            <a:r>
              <a:rPr sz="1150">
                <a:solidFill>
                  <a:srgbClr val="475669"/>
                </a:solidFill>
              </a:rPr>
              <a:t>공시 제출용 보고서 자동 생성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2C5265"/>
                </a:solidFill>
              </a:rPr>
              <a:t>✓  </a:t>
            </a:r>
            <a:r>
              <a:rPr sz="1150">
                <a:solidFill>
                  <a:srgbClr val="475669"/>
                </a:solidFill>
              </a:rPr>
              <a:t>Track B 데이터와 자동 연동</a:t>
            </a:r>
          </a:p>
        </p:txBody>
      </p:sp>
      <p:pic>
        <p:nvPicPr>
          <p:cNvPr id="12" name="Picture 11" descr="infos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265176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3093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75669"/>
                </a:solidFill>
              </a:rPr>
              <a:t>공시 현황 대시보드</a:t>
            </a:r>
          </a:p>
        </p:txBody>
      </p:sp>
      <p:pic>
        <p:nvPicPr>
          <p:cNvPr id="14" name="Picture 13" descr="infosd_inves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886200"/>
            <a:ext cx="265176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29000" y="63093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75669"/>
                </a:solidFill>
              </a:rPr>
              <a:t>투자액 관리</a:t>
            </a:r>
          </a:p>
        </p:txBody>
      </p:sp>
      <p:pic>
        <p:nvPicPr>
          <p:cNvPr id="16" name="Picture 15" descr="infosd_perso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3886200"/>
            <a:ext cx="2651760" cy="2377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59" y="63093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75669"/>
                </a:solidFill>
              </a:rPr>
              <a:t>인력 현황</a:t>
            </a:r>
          </a:p>
        </p:txBody>
      </p:sp>
      <p:pic>
        <p:nvPicPr>
          <p:cNvPr id="18" name="Picture 17" descr="infosd_certif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3886200"/>
            <a:ext cx="2651760" cy="2377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89719" y="63093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75669"/>
                </a:solidFill>
              </a:rPr>
              <a:t>인증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05840" cy="25603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공시 항목 상세 및 활용 화면</a:t>
            </a:r>
          </a:p>
        </p:txBody>
      </p:sp>
      <p:pic>
        <p:nvPicPr>
          <p:cNvPr id="5" name="Picture 4" descr="infosd_inves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20040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① 정보보호 투자액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73736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전체 IT 예산 대비 정보보호 투자 비율을 자동으로 계산합니다.
인정 범위 항목별 금액을 구분 입력하고 합산·검증합니다.</a:t>
            </a:r>
          </a:p>
        </p:txBody>
      </p:sp>
      <p:pic>
        <p:nvPicPr>
          <p:cNvPr id="8" name="Picture 7" descr="infosd_perso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320040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2980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② 정보보호 전담 인력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73736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전체 임직원 중 정보보호 전담 인력 비율을 관리합니다.
부서·직급별 분류 및 연도별 추이를 추적합니다.</a:t>
            </a:r>
          </a:p>
        </p:txBody>
      </p:sp>
      <p:pic>
        <p:nvPicPr>
          <p:cNvPr id="11" name="Picture 10" descr="infosd_cert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77639"/>
            <a:ext cx="320040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86200" y="4023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③ 인증 취득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43484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ISMS-P, ISO27001 등 취득 인증 이력을 관리합니다.
유효기간 알림 및 갱신 이력을 자동으로 기록합니다.</a:t>
            </a:r>
          </a:p>
        </p:txBody>
      </p:sp>
      <p:pic>
        <p:nvPicPr>
          <p:cNvPr id="14" name="Picture 13" descr="infosd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77639"/>
            <a:ext cx="3200400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9800" y="4023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④ 공시 검토 및 제출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43484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</a:rPr>
              <a:t>항목별 입력 완료 여부를 체크리스트로 확인합니다.
최종 검토 후 공시용 보고서를 자동으로 생성합니다.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Snowball 도입의 실질적 이점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7E5"/>
                </a:solidFill>
              </a:rPr>
              <a:t>비용은 줄이고, 효율과 안정성은 높입니다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0604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06040" cy="73152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265"/>
                </a:solidFill>
              </a:rPr>
              <a:t>감사 대응력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전문가의 감사 이슈 대응으로 외부 감사 시 발생하는 질의와 이슈를 신속하게 해결합니다.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0604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업무 효율화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8892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반복적 수동 업무를 제거하고 자동화하여 빠르고 정확한 평가 결과를 도출합니다.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371600"/>
            <a:ext cx="260604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37160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운영 가시성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78892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실시간 대시보드로 내부통제(ICFR) 전 영역의 통제 수행 현황 및 결함을 즉시 파악합니다.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399" y="1371600"/>
            <a:ext cx="260604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399" y="1371600"/>
            <a:ext cx="2606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79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리스크 관리 강화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79" y="278892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체계적인 결함 추적과 시정 조치 관리로 내부통제 역량을 극대화하고 리스크를 최소화합니다.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12080"/>
            <a:ext cx="11064240" cy="1417320"/>
          </a:xfrm>
          <a:prstGeom prst="rect">
            <a:avLst/>
          </a:prstGeom>
          <a:solidFill>
            <a:srgbClr val="0F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논리로 감사인을 압도하는 힘 — Snowball 전문가의 '결정적 소명'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C8D8"/>
                </a:solidFill>
              </a:rPr>
              <a:t>⚖️  최신 ITGC 가이드라인 기반 부당 감사 이슈 원천 차단   |   🧠  프로세스 전체 인과관계 입증으로 보완 통제 실효성 관철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B4CC"/>
                </a:solidFill>
              </a:rPr>
              <a:t>✓  SUCCESS CASE: 감사인이 '미비점'으로 단정한 사항을 시스템 아키텍처 인과관계 입증으로 '정상 프로세스' 인정받은 실전 성과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자주 묻는 질문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7E5"/>
                </a:solidFill>
              </a:rPr>
              <a:t>궁금하신 점이 있으시면 언제든 문의해 주세요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[감사 대응]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E"/>
                </a:solidFill>
              </a:rPr>
              <a:t>Q. 감사인과 의견이 충돌할 경우 지원이 가능한가요?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A. 네, 가능합니다. 단순히 시스템 제공에 그치지 않고, 쟁점에 대한 통제 논리·보완 통제·운영 증빙을 중심으로 '설명 구조'를 함께 정리해 드립니다. 필요 시 외부감사인 필드웍 현장에서도 밀착 지원합니다.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813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[준비 상태]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55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E"/>
                </a:solidFill>
              </a:rPr>
              <a:t>Q. 내부통제가 완벽하지 않은 상태에서도 도입이 가능한가요?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A. 물론입니다. 현재 수준을 기준으로 우선순위를 정해 단계적으로 보완합니다. 미흡한 영역은 즉시 개선 항목과 중장기 로드맵으로 구분하여 현실적인 대안을 제시합니다.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644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[공시 항목]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38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E"/>
                </a:solidFill>
              </a:rPr>
              <a:t>Q. 정보보호공시에 어떤 항목이 포함되나요?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A. 정보보호 투자액, 전담 인력 현황, 정보보호 인증 취득 내역 등이 포함됩니다. Track C 시스템을 통해 해당 항목을 체계적으로 관리하고 보고서를 자동 생성할 수 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5468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644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[비용 인정]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38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E"/>
                </a:solidFill>
              </a:rPr>
              <a:t>Q. Snowball 도입 비용이 공시 투자액으로 인정되나요?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A. Snowball 컨설팅 비용 자체가 '정보보호 투자액'으로 인정되므로, 서비스 도입만으로도 공시 지표 향상에 기여합니다.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[RCM 이관]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21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E"/>
                </a:solidFill>
              </a:rPr>
              <a:t>Q. 기존 엑셀 RCM을 시스템으로 이관할 수 있나요?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A. 가능합니다. 기존 엑셀 기반 RCM 데이터를 시스템으로 업로드하여 이관할 수 있으며, 이후에도 엑셀 양식 다운로드·업로드를 통한 병행 활용이 지원됩니다.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93776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0474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265"/>
                </a:solidFill>
              </a:rPr>
              <a:t>[계약 방식]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21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E"/>
                </a:solidFill>
              </a:rPr>
              <a:t>Q. 계약은 어떻게 이루어지나요?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71500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A. 월 정액 구독 방식을 기본으로 하며, 시스템 규모와 서비스 범위에 맞춰 맞춤 견적을 제안드립니다. 먼저 상담을 통해 현황을 파악한 후 최적안을 제시합니다.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귀사에 맞는 Snowball 솔루션은?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E3EE"/>
                </a:solidFill>
              </a:rPr>
              <a:t>세 가지 트랙을 자유롭게 조합하여 최적의 내부통제 체계를 구성하세요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474720" cy="50292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D7E5"/>
                </a:solidFill>
              </a:rPr>
              <a:t>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전문가 컨설팅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IT·감사 전문가의 실무 밀착 지원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연중 상시 대응 (월 정액)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외부감사 대응 포함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인건비 1/4 수준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4663440"/>
            <a:ext cx="314553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72744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265"/>
                </a:solidFill>
              </a:rPr>
              <a:t>인력 부재 해소 + 비용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474720" cy="50292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D7E5"/>
                </a:solidFill>
              </a:rPr>
              <a:t>Track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2121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내부통제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2423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ICFR 실시간 대시보드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RCM 중앙화·버전 관리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통제 운영평가 자동화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엑셀 RCM 이관 지원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1" y="4663440"/>
            <a:ext cx="314553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472744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265"/>
                </a:solidFill>
              </a:rPr>
              <a:t>수동 관리 탈출 + 가시성 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82880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828800"/>
            <a:ext cx="3474720" cy="50292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D7E5"/>
                </a:solidFill>
              </a:rPr>
              <a:t>Track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2121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정보보호공시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1" y="2423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투자액·인력·인증 통합 관리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공시 보고서 자동 생성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Track B 데이터 자동 연동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C5265"/>
                </a:solidFill>
              </a:rPr>
              <a:t>✓  </a:t>
            </a:r>
            <a:r>
              <a:rPr sz="1100">
                <a:solidFill>
                  <a:srgbClr val="475669"/>
                </a:solidFill>
              </a:rPr>
              <a:t>의무화 완벽 대응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11311" y="4663440"/>
            <a:ext cx="314553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472744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265"/>
                </a:solidFill>
              </a:rPr>
              <a:t>공시 의무 이행 + 리스크 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BE3EE"/>
                </a:solidFill>
              </a:rPr>
              <a:t>세 가지 트랙의 조합도 가능합니다. 귀사의 현황과 목표에 맞는 최적 플랜을 무료로 제안해 드립니다.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지금 바로 시작하십시오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C8D8"/>
                </a:solidFill>
              </a:rPr>
              <a:t>Snowball은 귀사의 첫 연락을 기다립니다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BE3EE"/>
                </a:solidFill>
              </a:rPr>
              <a:t>"지적 후 수습하는 비용보다,
믿음직한 실무 팀원을 곁에 두는 것이 훨씬 현명한 선택입니다."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3108960" cy="64008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Track A — 컨설팅 문의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06240"/>
            <a:ext cx="3108960" cy="64008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279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Track B — 시스템 데모 신청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4206240"/>
            <a:ext cx="3108960" cy="64008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279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Track C — 공시 대응 상담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ABB"/>
                </a:solidFill>
              </a:rPr>
              <a:t>Snowball  |  내부통제 &amp; 정보보호공시 솔루션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