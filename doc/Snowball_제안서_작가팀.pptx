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72" y="2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E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412480" y="-1645920"/>
            <a:ext cx="5943600" cy="5943600"/>
          </a:xfrm>
          <a:prstGeom prst="ellipse">
            <a:avLst/>
          </a:prstGeom>
          <a:solidFill>
            <a:srgbClr val="143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058400" y="3200400"/>
            <a:ext cx="3657600" cy="3657600"/>
          </a:xfrm>
          <a:prstGeom prst="ellipse">
            <a:avLst/>
          </a:prstGeom>
          <a:solidFill>
            <a:srgbClr val="0E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77240" y="1463040"/>
            <a:ext cx="54864" cy="3474720"/>
          </a:xfrm>
          <a:prstGeom prst="rect">
            <a:avLst/>
          </a:prstGeom>
          <a:solidFill>
            <a:srgbClr val="388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50876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AD7E5"/>
                </a:solidFill>
              </a:rPr>
              <a:t>Internal Control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96596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당신의 내부통제팀에는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33472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388CA8"/>
                </a:solidFill>
              </a:rPr>
              <a:t>지금 무엇이 빠져 있습니까?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520440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AD7E5"/>
                </a:solidFill>
              </a:rPr>
              <a:t>IT 전문 인력, 체계적 시스템, 공시 대응 — 이 세 가지의 공백을
Snowball이 완벽하게 채워드립니다.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4617720"/>
            <a:ext cx="2240280" cy="658368"/>
          </a:xfrm>
          <a:prstGeom prst="rect">
            <a:avLst/>
          </a:prstGeom>
          <a:solidFill>
            <a:srgbClr val="388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43000" y="4663440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FFFFFF"/>
                </a:solidFill>
              </a:rPr>
              <a:t>Track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4919472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전문가 컨설팅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66160" y="4617720"/>
            <a:ext cx="2240280" cy="658368"/>
          </a:xfrm>
          <a:prstGeom prst="rect">
            <a:avLst/>
          </a:prstGeom>
          <a:solidFill>
            <a:srgbClr val="22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03320" y="4663440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CCEAF5"/>
                </a:solidFill>
              </a:rPr>
              <a:t>Track 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4919472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내부통제 시스템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79" y="4617720"/>
            <a:ext cx="2240280" cy="658368"/>
          </a:xfrm>
          <a:prstGeom prst="rect">
            <a:avLst/>
          </a:prstGeom>
          <a:solidFill>
            <a:srgbClr val="22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63640" y="4663440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CCEAF5"/>
                </a:solidFill>
              </a:rPr>
              <a:t>Track 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4919472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정보보호공시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63093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7288"/>
                </a:solidFill>
              </a:rPr>
              <a:t>Snowball   ·   2026</a:t>
            </a:r>
          </a:p>
        </p:txBody>
      </p:sp>
      <p:pic>
        <p:nvPicPr>
          <p:cNvPr id="19" name="Picture 2">
            <a:extLst>
              <a:ext uri="{FF2B5EF4-FFF2-40B4-BE49-F238E27FC236}">
                <a16:creationId xmlns:a16="http://schemas.microsoft.com/office/drawing/2014/main" id="{AA406CCB-E0FA-F058-3569-43FC873827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00290" y="89221"/>
            <a:ext cx="916619" cy="916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2C5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내부통제팀이 마주한 불편한 진실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AD7E5"/>
                </a:solidFill>
              </a:rPr>
              <a:t>이중 하나라도 해당된다면, 이 제안서를 끝까지 읽으셔야 합니다.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25880"/>
            <a:ext cx="3566160" cy="5212080"/>
          </a:xfrm>
          <a:prstGeom prst="rect">
            <a:avLst/>
          </a:prstGeom>
          <a:solidFill>
            <a:srgbClr val="E8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1325880"/>
            <a:ext cx="3566160" cy="64008"/>
          </a:xfrm>
          <a:prstGeom prst="rect">
            <a:avLst/>
          </a:prstGeom>
          <a:solidFill>
            <a:srgbClr val="2C5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475669"/>
                </a:solidFill>
              </a:rPr>
              <a:t>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12848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C5265"/>
                </a:solidFill>
              </a:rPr>
              <a:t>감사 언어를 아는 IT 전문가,
구했습니까?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90672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75669"/>
                </a:solidFill>
              </a:rPr>
              <a:t>단순 개발자가 아닌 감사 언어를 이해하는 IT 인력 채용은 사실상 불가능에 가깝습니다. 설령 채용해도 반복되는 과부하와 이직으로 통제 체계에 치명적인 공백이 생깁니다.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325880"/>
            <a:ext cx="3566160" cy="52120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297680" y="1325880"/>
            <a:ext cx="3566160" cy="6400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26280" y="150876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475669"/>
                </a:solidFill>
              </a:rPr>
              <a:t>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212848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F4444"/>
                </a:solidFill>
              </a:rPr>
              <a:t>아직도 엑셀로
내부통제를 하고 계십니까?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3090672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75669"/>
                </a:solidFill>
              </a:rPr>
              <a:t>수만 건의 데이터와 버전이 뒤섞인 엑셀 파일은 내부통제의 무덤입니다. 끝없는 취합 업무가 통제팀의 눈을 가리는 사이, 실질적인 결함 리스크가 자라고 있습니다.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92440" y="1325880"/>
            <a:ext cx="3566160" cy="521208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92440" y="1325880"/>
            <a:ext cx="3566160" cy="6400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21040" y="150876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475669"/>
                </a:solidFill>
              </a:rPr>
              <a:t>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212848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F4444"/>
                </a:solidFill>
              </a:rPr>
              <a:t>정보보호공시 마감일,
자신 있으십니까?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3090672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75669"/>
                </a:solidFill>
              </a:rPr>
              <a:t>투자액·인력 현황을 투명하게 공개해야 하는 의무는 이미 시작됐습니다. 데이터 정합성을 증명하지 못하면 기업 신뢰도에 돌이킬 수 없는 타격을 입습니다.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E10C07E-EC74-4AC2-0AEC-CD113D15E9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00290" y="89221"/>
            <a:ext cx="916619" cy="916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3C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지금 이 순간에도 비용이 새고 있습니다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AD7E5"/>
                </a:solidFill>
              </a:rPr>
              <a:t>채용·수동관리·공시 미비 — 세 가지 리스크가 만드는 기회비용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5120640" cy="5212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5265"/>
                </a:solidFill>
              </a:rPr>
              <a:t>연간 운영 비용 비교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4A3B8"/>
                </a:solidFill>
              </a:rPr>
              <a:t>* 인건비 + 부대비용 포함 기준 (추정치)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12848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669"/>
                </a:solidFill>
              </a:rPr>
              <a:t>전문가 직접 채용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21284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475669"/>
                </a:solidFill>
              </a:rPr>
              <a:t>연 약 1.2억 + α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542032"/>
            <a:ext cx="4480560" cy="384048"/>
          </a:xfrm>
          <a:prstGeom prst="rect">
            <a:avLst/>
          </a:prstGeom>
          <a:solidFill>
            <a:srgbClr val="A0A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2587752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채용비 + 퇴직금 + 이직 리스크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090672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5265"/>
                </a:solidFill>
              </a:rPr>
              <a:t>Snowball 컨설팅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60520" y="3090672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2C5265"/>
                </a:solidFill>
              </a:rPr>
              <a:t>연 약 0.3억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419856"/>
            <a:ext cx="1143000" cy="384048"/>
          </a:xfrm>
          <a:prstGeom prst="rect">
            <a:avLst/>
          </a:prstGeom>
          <a:solidFill>
            <a:srgbClr val="2C5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965960" y="3419856"/>
            <a:ext cx="3291840" cy="384048"/>
          </a:xfrm>
          <a:prstGeom prst="rect">
            <a:avLst/>
          </a:prstGeom>
          <a:solidFill>
            <a:srgbClr val="DC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057400" y="346557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C5265"/>
                </a:solidFill>
              </a:rPr>
              <a:t>인건비의 1/4 수준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05072"/>
            <a:ext cx="4480560" cy="658368"/>
          </a:xfrm>
          <a:prstGeom prst="rect">
            <a:avLst/>
          </a:prstGeom>
          <a:solidFill>
            <a:srgbClr val="E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" y="4078224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</a:rPr>
              <a:t>연간 최대 9,000만원 절감 가능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773168"/>
            <a:ext cx="4480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050" b="0">
                <a:solidFill>
                  <a:srgbClr val="475669"/>
                </a:solidFill>
              </a:rPr>
              <a:t>▪  채용 기간 공백 — 실무 투입까지 최소 3개월</a:t>
            </a:r>
          </a:p>
          <a:p>
            <a:pPr algn="l">
              <a:spcBef>
                <a:spcPts val="700"/>
              </a:spcBef>
            </a:pPr>
            <a:r>
              <a:rPr sz="1050" b="0">
                <a:solidFill>
                  <a:srgbClr val="475669"/>
                </a:solidFill>
              </a:rPr>
              <a:t>▪  이직 리스크 — 갑작스러운 퇴사 시 감사 대응 단절</a:t>
            </a:r>
          </a:p>
          <a:p>
            <a:pPr algn="l">
              <a:spcBef>
                <a:spcPts val="700"/>
              </a:spcBef>
            </a:pPr>
            <a:r>
              <a:rPr sz="1050" b="0">
                <a:solidFill>
                  <a:srgbClr val="475669"/>
                </a:solidFill>
              </a:rPr>
              <a:t>▪  엑셀 오류 — 결함 미발견으로 인한 감사 지적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89320" y="1325880"/>
            <a:ext cx="274320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989320" y="1325880"/>
            <a:ext cx="2743200" cy="64008"/>
          </a:xfrm>
          <a:prstGeom prst="rect">
            <a:avLst/>
          </a:prstGeom>
          <a:solidFill>
            <a:srgbClr val="388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172200" y="1600200"/>
            <a:ext cx="2377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388CA8"/>
                </a:solidFill>
              </a:rPr>
              <a:t>75%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24231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75669"/>
                </a:solidFill>
              </a:rPr>
              <a:t>운영 비용 절감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06840" y="1325880"/>
            <a:ext cx="274320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006840" y="1325880"/>
            <a:ext cx="2743200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89719" y="1600200"/>
            <a:ext cx="2377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10B981"/>
                </a:solidFill>
              </a:rPr>
              <a:t>24/7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89719" y="24231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75669"/>
                </a:solidFill>
              </a:rPr>
              <a:t>내부통제 모니터링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89320" y="3840480"/>
            <a:ext cx="274320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989320" y="3840480"/>
            <a:ext cx="2743200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172200" y="4114800"/>
            <a:ext cx="2377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59E0B"/>
                </a:solidFill>
              </a:rPr>
              <a:t>100%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72200" y="49377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75669"/>
                </a:solidFill>
              </a:rPr>
              <a:t>감사인 질의 대응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006840" y="3840480"/>
            <a:ext cx="274320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9006840" y="3840480"/>
            <a:ext cx="2743200" cy="64008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189719" y="4114800"/>
            <a:ext cx="2377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818CF8"/>
                </a:solidFill>
              </a:rPr>
              <a:t>Zero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89719" y="49377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75669"/>
                </a:solidFill>
              </a:rPr>
              <a:t>업무 단절 위험</a:t>
            </a:r>
          </a:p>
        </p:txBody>
      </p:sp>
      <p:pic>
        <p:nvPicPr>
          <p:cNvPr id="36" name="Picture 2">
            <a:extLst>
              <a:ext uri="{FF2B5EF4-FFF2-40B4-BE49-F238E27FC236}">
                <a16:creationId xmlns:a16="http://schemas.microsoft.com/office/drawing/2014/main" id="{C2361397-B736-F59E-E67C-1A56AFE42D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00290" y="89221"/>
            <a:ext cx="916619" cy="916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E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743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Snowball의 세 가지 처방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601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AD7E5"/>
                </a:solidFill>
              </a:rPr>
              <a:t>하나씩 써도 되고, 셋을 함께 써도 됩니다. 귀사의 상황에 맞는 조합을 찾아드립니다.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508760"/>
            <a:ext cx="3611880" cy="5074920"/>
          </a:xfrm>
          <a:prstGeom prst="rect">
            <a:avLst/>
          </a:prstGeom>
          <a:solidFill>
            <a:srgbClr val="142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1508760"/>
            <a:ext cx="3611880" cy="64008"/>
          </a:xfrm>
          <a:prstGeom prst="rect">
            <a:avLst/>
          </a:prstGeom>
          <a:solidFill>
            <a:srgbClr val="388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664208"/>
            <a:ext cx="777240" cy="292608"/>
          </a:xfrm>
          <a:prstGeom prst="rect">
            <a:avLst/>
          </a:prstGeom>
          <a:solidFill>
            <a:srgbClr val="388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04088" y="169164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Track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691640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BAD7E5"/>
                </a:solidFill>
              </a:rPr>
              <a:t>전문가 컨설팅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29968"/>
            <a:ext cx="3246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20년 베테랑이
오늘부터 귀사 직원입니다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3054096"/>
            <a:ext cx="54864" cy="201168"/>
          </a:xfrm>
          <a:prstGeom prst="rect">
            <a:avLst/>
          </a:prstGeom>
          <a:solidFill>
            <a:srgbClr val="388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0392" y="2999232"/>
            <a:ext cx="306324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 err="1">
                <a:solidFill>
                  <a:srgbClr val="CCE4F0"/>
                </a:solidFill>
              </a:rPr>
              <a:t>연중</a:t>
            </a:r>
            <a:r>
              <a:rPr sz="1050" b="0" i="0" dirty="0">
                <a:solidFill>
                  <a:srgbClr val="CCE4F0"/>
                </a:solidFill>
              </a:rPr>
              <a:t> </a:t>
            </a:r>
            <a:r>
              <a:rPr sz="1050" b="0" i="0" dirty="0" err="1">
                <a:solidFill>
                  <a:srgbClr val="CCE4F0"/>
                </a:solidFill>
              </a:rPr>
              <a:t>상시</a:t>
            </a:r>
            <a:r>
              <a:rPr sz="1050" b="0" i="0" dirty="0">
                <a:solidFill>
                  <a:srgbClr val="CCE4F0"/>
                </a:solidFill>
              </a:rPr>
              <a:t> </a:t>
            </a:r>
            <a:r>
              <a:rPr sz="1050" b="0" i="0" dirty="0" err="1">
                <a:solidFill>
                  <a:srgbClr val="CCE4F0"/>
                </a:solidFill>
              </a:rPr>
              <a:t>밀착</a:t>
            </a:r>
            <a:r>
              <a:rPr sz="1050" b="0" i="0" dirty="0">
                <a:solidFill>
                  <a:srgbClr val="CCE4F0"/>
                </a:solidFill>
              </a:rPr>
              <a:t> </a:t>
            </a:r>
            <a:r>
              <a:rPr sz="1050" b="0" i="0" dirty="0" err="1">
                <a:solidFill>
                  <a:srgbClr val="CCE4F0"/>
                </a:solidFill>
              </a:rPr>
              <a:t>지원</a:t>
            </a:r>
            <a:endParaRPr sz="1050" b="0" i="0" dirty="0">
              <a:solidFill>
                <a:srgbClr val="CCE4F0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85800" y="3511296"/>
            <a:ext cx="54864" cy="201168"/>
          </a:xfrm>
          <a:prstGeom prst="rect">
            <a:avLst/>
          </a:prstGeom>
          <a:solidFill>
            <a:srgbClr val="388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0392" y="3456432"/>
            <a:ext cx="3063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E4F0"/>
                </a:solidFill>
              </a:rPr>
              <a:t>ITGC 설계·운영평가 전담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3968495"/>
            <a:ext cx="54864" cy="201168"/>
          </a:xfrm>
          <a:prstGeom prst="rect">
            <a:avLst/>
          </a:prstGeom>
          <a:solidFill>
            <a:srgbClr val="388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0392" y="3913631"/>
            <a:ext cx="3063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E4F0"/>
                </a:solidFill>
              </a:rPr>
              <a:t>외부감사 대응 무제한 포함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4425695"/>
            <a:ext cx="54864" cy="201168"/>
          </a:xfrm>
          <a:prstGeom prst="rect">
            <a:avLst/>
          </a:prstGeom>
          <a:solidFill>
            <a:srgbClr val="388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0392" y="4370831"/>
            <a:ext cx="306324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sz="1050" dirty="0">
                <a:solidFill>
                  <a:srgbClr val="CCE4F0"/>
                </a:solidFill>
              </a:rPr>
              <a:t>채용</a:t>
            </a:r>
            <a:r>
              <a:rPr sz="1050" b="0" i="0" dirty="0">
                <a:solidFill>
                  <a:srgbClr val="CCE4F0"/>
                </a:solidFill>
              </a:rPr>
              <a:t> </a:t>
            </a:r>
            <a:r>
              <a:rPr sz="1050" b="0" i="0" dirty="0" err="1">
                <a:solidFill>
                  <a:srgbClr val="CCE4F0"/>
                </a:solidFill>
              </a:rPr>
              <a:t>대비</a:t>
            </a:r>
            <a:r>
              <a:rPr sz="1050" b="0" i="0" dirty="0">
                <a:solidFill>
                  <a:srgbClr val="CCE4F0"/>
                </a:solidFill>
              </a:rPr>
              <a:t> 1/4 </a:t>
            </a:r>
            <a:r>
              <a:rPr sz="1050" b="0" i="0" dirty="0" err="1">
                <a:solidFill>
                  <a:srgbClr val="CCE4F0"/>
                </a:solidFill>
              </a:rPr>
              <a:t>비용</a:t>
            </a:r>
            <a:endParaRPr sz="1050" b="0" i="0" dirty="0">
              <a:solidFill>
                <a:srgbClr val="CCE4F0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85800" y="5961888"/>
            <a:ext cx="3246120" cy="438912"/>
          </a:xfrm>
          <a:prstGeom prst="rect">
            <a:avLst/>
          </a:prstGeom>
          <a:solidFill>
            <a:srgbClr val="1E4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7240" y="6016752"/>
            <a:ext cx="3063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88CA8"/>
                </a:solidFill>
              </a:rPr>
              <a:t>인력 부재 + 비용 최적화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61688" y="1508760"/>
            <a:ext cx="3611880" cy="5074920"/>
          </a:xfrm>
          <a:prstGeom prst="rect">
            <a:avLst/>
          </a:prstGeom>
          <a:solidFill>
            <a:srgbClr val="142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361688" y="1508760"/>
            <a:ext cx="3611880" cy="64008"/>
          </a:xfrm>
          <a:prstGeom prst="rect">
            <a:avLst/>
          </a:prstGeom>
          <a:solidFill>
            <a:srgbClr val="228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544568" y="1664208"/>
            <a:ext cx="777240" cy="292608"/>
          </a:xfrm>
          <a:prstGeom prst="rect">
            <a:avLst/>
          </a:prstGeom>
          <a:solidFill>
            <a:srgbClr val="228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62855" y="169164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Track 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13248" y="1691640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BAD7E5"/>
                </a:solidFill>
              </a:rPr>
              <a:t>내부통제 시스템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44568" y="2029968"/>
            <a:ext cx="3246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엑셀 표류기를
끝낼 시간입니다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44568" y="3054096"/>
            <a:ext cx="54864" cy="201168"/>
          </a:xfrm>
          <a:prstGeom prst="rect">
            <a:avLst/>
          </a:prstGeom>
          <a:solidFill>
            <a:srgbClr val="228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709159" y="2999232"/>
            <a:ext cx="3063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E4F0"/>
                </a:solidFill>
              </a:rPr>
              <a:t>ICFR 실시간 대시보드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44568" y="3511296"/>
            <a:ext cx="54864" cy="201168"/>
          </a:xfrm>
          <a:prstGeom prst="rect">
            <a:avLst/>
          </a:prstGeom>
          <a:solidFill>
            <a:srgbClr val="228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709159" y="3456432"/>
            <a:ext cx="3063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E4F0"/>
                </a:solidFill>
              </a:rPr>
              <a:t>RCM 중앙화 · 버전 관리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44568" y="3968495"/>
            <a:ext cx="54864" cy="201168"/>
          </a:xfrm>
          <a:prstGeom prst="rect">
            <a:avLst/>
          </a:prstGeom>
          <a:solidFill>
            <a:srgbClr val="228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709159" y="3913631"/>
            <a:ext cx="3063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E4F0"/>
                </a:solidFill>
              </a:rPr>
              <a:t>통제 증빙 자동 집계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44568" y="4425695"/>
            <a:ext cx="54864" cy="201168"/>
          </a:xfrm>
          <a:prstGeom prst="rect">
            <a:avLst/>
          </a:prstGeom>
          <a:solidFill>
            <a:srgbClr val="228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709159" y="4370831"/>
            <a:ext cx="3063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E4F0"/>
                </a:solidFill>
              </a:rPr>
              <a:t>기존 엑셀 데이터 이관 가능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44568" y="5961888"/>
            <a:ext cx="3246120" cy="438912"/>
          </a:xfrm>
          <a:prstGeom prst="rect">
            <a:avLst/>
          </a:prstGeom>
          <a:solidFill>
            <a:srgbClr val="1E4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636007" y="6016752"/>
            <a:ext cx="3063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28878"/>
                </a:solidFill>
              </a:rPr>
              <a:t>수동 탈출 + 가시성 확보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20456" y="1508760"/>
            <a:ext cx="3611880" cy="5074920"/>
          </a:xfrm>
          <a:prstGeom prst="rect">
            <a:avLst/>
          </a:prstGeom>
          <a:solidFill>
            <a:srgbClr val="142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8220456" y="1508760"/>
            <a:ext cx="3611880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8403336" y="1664208"/>
            <a:ext cx="777240" cy="2926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21624" y="169164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Track 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72016" y="1691640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BAD7E5"/>
                </a:solidFill>
              </a:rPr>
              <a:t>정보보호공시 시스템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03336" y="2029968"/>
            <a:ext cx="3246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공시 마감일,
당황하지 않는 회사의 비밀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403336" y="3054096"/>
            <a:ext cx="54864" cy="20116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567928" y="2999232"/>
            <a:ext cx="3063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E4F0"/>
                </a:solidFill>
              </a:rPr>
              <a:t>투자액·인력·인증 통합 관리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403336" y="3511296"/>
            <a:ext cx="54864" cy="20116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567928" y="3456432"/>
            <a:ext cx="3063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E4F0"/>
                </a:solidFill>
              </a:rPr>
              <a:t>공시 보고서 자동 생성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403336" y="3968495"/>
            <a:ext cx="54864" cy="20116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567928" y="3913631"/>
            <a:ext cx="3063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E4F0"/>
                </a:solidFill>
              </a:rPr>
              <a:t>Track B 데이터 자동 연동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403336" y="4425695"/>
            <a:ext cx="54864" cy="20116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567928" y="4370831"/>
            <a:ext cx="3063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E4F0"/>
                </a:solidFill>
              </a:rPr>
              <a:t>의무화 완벽 대응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403336" y="5961888"/>
            <a:ext cx="3246120" cy="438912"/>
          </a:xfrm>
          <a:prstGeom prst="rect">
            <a:avLst/>
          </a:prstGeom>
          <a:solidFill>
            <a:srgbClr val="1E4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494776" y="6016752"/>
            <a:ext cx="3063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C3AED"/>
                </a:solidFill>
              </a:rPr>
              <a:t>공시 이행 + 리스크 제로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4400" y="6565392"/>
            <a:ext cx="10332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6A9ABB"/>
                </a:solidFill>
              </a:rPr>
              <a:t>* 컨설팅 비용은 정보보호 투자액으로 인정됩니다 — 서비스 도입만으로 공시 지표가 향상됩니다</a:t>
            </a:r>
          </a:p>
        </p:txBody>
      </p:sp>
      <p:pic>
        <p:nvPicPr>
          <p:cNvPr id="53" name="Picture 2">
            <a:extLst>
              <a:ext uri="{FF2B5EF4-FFF2-40B4-BE49-F238E27FC236}">
                <a16:creationId xmlns:a16="http://schemas.microsoft.com/office/drawing/2014/main" id="{C4C4F318-B830-0376-A2A1-D3603336EF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00290" y="89221"/>
            <a:ext cx="916619" cy="916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2C5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55448"/>
            <a:ext cx="9144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말이 아니라 화면으로 보여드립니다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0408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AD7E5"/>
                </a:solidFill>
              </a:rPr>
              <a:t>실제 운영 중인 시스템 화면 — Snowball의 약속은 이미 작동하고 있습니다.</a:t>
            </a:r>
          </a:p>
        </p:txBody>
      </p:sp>
      <p:pic>
        <p:nvPicPr>
          <p:cNvPr id="5" name="Picture 4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98448"/>
            <a:ext cx="4114800" cy="19659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709159" y="1298448"/>
            <a:ext cx="1417320" cy="1965960"/>
          </a:xfrm>
          <a:prstGeom prst="rect">
            <a:avLst/>
          </a:prstGeom>
          <a:solidFill>
            <a:srgbClr val="E8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782312" y="1527048"/>
            <a:ext cx="1234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C5265"/>
                </a:solidFill>
              </a:rPr>
              <a:t>내부통제 실시간 대시보드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82312" y="2167128"/>
            <a:ext cx="1234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669"/>
                </a:solidFill>
              </a:rPr>
              <a:t>ICFR 전 영역 통제 현황 및 결함을 한눈에</a:t>
            </a:r>
          </a:p>
        </p:txBody>
      </p:sp>
      <p:pic>
        <p:nvPicPr>
          <p:cNvPr id="9" name="Picture 8" descr="rc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298448"/>
            <a:ext cx="4114800" cy="196596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0561320" y="1298448"/>
            <a:ext cx="1417320" cy="1965960"/>
          </a:xfrm>
          <a:prstGeom prst="rect">
            <a:avLst/>
          </a:prstGeom>
          <a:solidFill>
            <a:srgbClr val="E8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634472" y="1527048"/>
            <a:ext cx="1234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C5265"/>
                </a:solidFill>
              </a:rPr>
              <a:t>RCM 중앙화 관리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34472" y="2167128"/>
            <a:ext cx="1234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669"/>
                </a:solidFill>
              </a:rPr>
              <a:t>엑셀 업로드·버전 관리·샘플링 자동화</a:t>
            </a:r>
          </a:p>
        </p:txBody>
      </p:sp>
      <p:pic>
        <p:nvPicPr>
          <p:cNvPr id="13" name="Picture 12" descr="infosd_dash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995928"/>
            <a:ext cx="4114800" cy="196596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4709159" y="3995928"/>
            <a:ext cx="1417320" cy="1965960"/>
          </a:xfrm>
          <a:prstGeom prst="rect">
            <a:avLst/>
          </a:prstGeom>
          <a:solidFill>
            <a:srgbClr val="E8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82312" y="4224528"/>
            <a:ext cx="1234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C5265"/>
                </a:solidFill>
              </a:rPr>
              <a:t>공시 현황 대시보드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82312" y="4864608"/>
            <a:ext cx="1234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669"/>
                </a:solidFill>
              </a:rPr>
              <a:t>투자액·인력·인증 통합 진행률 관리</a:t>
            </a:r>
          </a:p>
        </p:txBody>
      </p:sp>
      <p:pic>
        <p:nvPicPr>
          <p:cNvPr id="17" name="Picture 16" descr="infosd_investme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3995928"/>
            <a:ext cx="4114800" cy="196596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10561320" y="3995928"/>
            <a:ext cx="1417320" cy="1965960"/>
          </a:xfrm>
          <a:prstGeom prst="rect">
            <a:avLst/>
          </a:prstGeom>
          <a:solidFill>
            <a:srgbClr val="E8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634472" y="4224528"/>
            <a:ext cx="1234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C5265"/>
                </a:solidFill>
              </a:rPr>
              <a:t>정보보호 투자액 관리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34472" y="4864608"/>
            <a:ext cx="1234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669"/>
                </a:solidFill>
              </a:rPr>
              <a:t>항목별 자동 집계 및 비율 검증</a:t>
            </a:r>
          </a:p>
        </p:txBody>
      </p:sp>
      <p:pic>
        <p:nvPicPr>
          <p:cNvPr id="21" name="Picture 2">
            <a:extLst>
              <a:ext uri="{FF2B5EF4-FFF2-40B4-BE49-F238E27FC236}">
                <a16:creationId xmlns:a16="http://schemas.microsoft.com/office/drawing/2014/main" id="{D7715307-228F-4BF1-729E-F640E167AC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00290" y="89221"/>
            <a:ext cx="916619" cy="916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E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8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55448"/>
            <a:ext cx="9144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논리로 감사인을 압도하는 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0408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AD7E5"/>
                </a:solidFill>
              </a:rPr>
              <a:t>자문만 하고 떠나는 전문가가 아닙니다 — 감사인의 판단을 바꾼 실전 기록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3840480" cy="5257800"/>
          </a:xfrm>
          <a:prstGeom prst="rect">
            <a:avLst/>
          </a:prstGeom>
          <a:solidFill>
            <a:srgbClr val="12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298448"/>
            <a:ext cx="3840480" cy="64008"/>
          </a:xfrm>
          <a:prstGeom prst="rect">
            <a:avLst/>
          </a:prstGeom>
          <a:solidFill>
            <a:srgbClr val="388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150876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AD7E5"/>
                </a:solidFill>
              </a:rPr>
              <a:t>IT 10년  ·  감사 10년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901952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현장과 감사를
동시에 통달한 전문가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2834640"/>
            <a:ext cx="54864" cy="475488"/>
          </a:xfrm>
          <a:prstGeom prst="rect">
            <a:avLst/>
          </a:prstGeom>
          <a:solidFill>
            <a:srgbClr val="388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834640"/>
            <a:ext cx="32918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E4F0"/>
                </a:solidFill>
              </a:rPr>
              <a:t>IT 현장 10년 — 시스템 아키텍처와 운영 리스크를 몸으로 압니다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9808" y="3584448"/>
            <a:ext cx="54864" cy="475488"/>
          </a:xfrm>
          <a:prstGeom prst="rect">
            <a:avLst/>
          </a:prstGeom>
          <a:solidFill>
            <a:srgbClr val="388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3584448"/>
            <a:ext cx="32918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E4F0"/>
                </a:solidFill>
              </a:rPr>
              <a:t>감사 10년 — 감사인이 무엇을 보는지, 어디서 이슈를 잡는지 압니다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8" y="4334256"/>
            <a:ext cx="54864" cy="475488"/>
          </a:xfrm>
          <a:prstGeom prst="rect">
            <a:avLst/>
          </a:prstGeom>
          <a:solidFill>
            <a:srgbClr val="388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4334256"/>
            <a:ext cx="32918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E4F0"/>
                </a:solidFill>
              </a:rPr>
              <a:t>두 관점을 동시에 가진 전문가는 국내에 극소수입니다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09160" y="1298448"/>
            <a:ext cx="6903720" cy="1691640"/>
          </a:xfrm>
          <a:prstGeom prst="rect">
            <a:avLst/>
          </a:prstGeom>
          <a:solidFill>
            <a:srgbClr val="163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892040" y="1481328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475669"/>
                </a:solidFill>
              </a:rPr>
              <a:t>⚖️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32120" y="1499616"/>
            <a:ext cx="5852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8CA8"/>
                </a:solidFill>
              </a:rPr>
              <a:t>[규정 중심의 방어]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32120" y="1938528"/>
            <a:ext cx="5852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8CCDC"/>
                </a:solidFill>
              </a:rPr>
              <a:t>최신 ITGC 가이드라인과 기업 내부 규정을 완벽히 분석하여 감사인의 자의적 해석에 의한 부당한 감사 이슈를 원천 차단합니다.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09160" y="3218688"/>
            <a:ext cx="6903720" cy="1691640"/>
          </a:xfrm>
          <a:prstGeom prst="rect">
            <a:avLst/>
          </a:prstGeom>
          <a:solidFill>
            <a:srgbClr val="163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892040" y="3401568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475669"/>
                </a:solidFill>
              </a:rPr>
              <a:t>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32120" y="3419856"/>
            <a:ext cx="5852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8CA8"/>
                </a:solidFill>
              </a:rPr>
              <a:t>[인과관계의 논리]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32120" y="3858768"/>
            <a:ext cx="5852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8CCDC"/>
                </a:solidFill>
              </a:rPr>
              <a:t>단편적 현상이 아닌 프로세스 전체의 인과관계를 입증하여 보완 통제의 실효성을 감사인에게 논리적으로 관철시킵니다.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09160" y="5166360"/>
            <a:ext cx="6903720" cy="1389888"/>
          </a:xfrm>
          <a:prstGeom prst="rect">
            <a:avLst/>
          </a:prstGeom>
          <a:solidFill>
            <a:srgbClr val="0C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709160" y="5166360"/>
            <a:ext cx="274320" cy="1389888"/>
          </a:xfrm>
          <a:prstGeom prst="rect">
            <a:avLst/>
          </a:prstGeom>
          <a:solidFill>
            <a:srgbClr val="388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074920" y="5230368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88CA8"/>
                </a:solidFill>
              </a:rPr>
              <a:t>SUCCESS CASE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74920" y="5559552"/>
            <a:ext cx="6309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"미비점"으로 단정된 사항을 시스템 아키텍처 인과관계 입증으로 "정상 프로세스"로 인정받았습니다.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74920" y="6199632"/>
            <a:ext cx="6309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AD7E5"/>
                </a:solidFill>
              </a:rPr>
              <a:t>— 감사인의 판단을 바꾼 실전 논리</a:t>
            </a:r>
          </a:p>
        </p:txBody>
      </p:sp>
      <p:pic>
        <p:nvPicPr>
          <p:cNvPr id="28" name="Picture 2">
            <a:extLst>
              <a:ext uri="{FF2B5EF4-FFF2-40B4-BE49-F238E27FC236}">
                <a16:creationId xmlns:a16="http://schemas.microsoft.com/office/drawing/2014/main" id="{DE51DA30-2580-BB22-3B6D-FD4C1865E9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00290" y="89221"/>
            <a:ext cx="916619" cy="916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526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6858000" y="-1371600"/>
            <a:ext cx="6400800" cy="6400800"/>
          </a:xfrm>
          <a:prstGeom prst="ellipse">
            <a:avLst/>
          </a:prstGeom>
          <a:solidFill>
            <a:srgbClr val="2244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686800" y="3200400"/>
            <a:ext cx="4572000" cy="4572000"/>
          </a:xfrm>
          <a:prstGeom prst="ellipse">
            <a:avLst/>
          </a:prstGeom>
          <a:solidFill>
            <a:srgbClr val="1C3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14400" y="822960"/>
            <a:ext cx="73152" cy="1645920"/>
          </a:xfrm>
          <a:prstGeom prst="rect">
            <a:avLst/>
          </a:prstGeom>
          <a:solidFill>
            <a:srgbClr val="388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88720" y="86868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"지적 후 수습하는 비용보다,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38988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388CA8"/>
                </a:solidFill>
              </a:rPr>
              <a:t>믿음직한 실무 팀원을 곁에 두는 것이 훨씬 현명한 선택입니다."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76272"/>
            <a:ext cx="10332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지금 바로 시작하십시오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035808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AD7E5"/>
                </a:solidFill>
              </a:rPr>
              <a:t>Snowball은 귀사의 첫 연락을 기다립니다.
현황 파악부터 맞춤 견적까지 — 무료 상담으로 시작하세요.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3977639"/>
            <a:ext cx="338328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4069080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88CA8"/>
                </a:solidFill>
              </a:rPr>
              <a:t>Track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389120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5265"/>
                </a:solidFill>
              </a:rPr>
              <a:t>인력 공백 해소부터
시작하고 싶습니다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3977639"/>
            <a:ext cx="338328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54880" y="4069080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88CA8"/>
                </a:solidFill>
              </a:rPr>
              <a:t>Track 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4389120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5265"/>
                </a:solidFill>
              </a:rPr>
              <a:t>수동 관리를
시스템으로 바꾸고 싶습니다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21040" y="3977639"/>
            <a:ext cx="338328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03919" y="4069080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88CA8"/>
                </a:solidFill>
              </a:rPr>
              <a:t>Track 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19" y="4389120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5265"/>
                </a:solidFill>
              </a:rPr>
              <a:t>공시 의무화,
지금 당장 대응하고 싶습니다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5650992"/>
            <a:ext cx="12188952" cy="1207008"/>
          </a:xfrm>
          <a:prstGeom prst="rect">
            <a:avLst/>
          </a:prstGeom>
          <a:solidFill>
            <a:srgbClr val="1A3C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5760720"/>
            <a:ext cx="2468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388CA8"/>
                </a:solidFill>
              </a:rPr>
              <a:t>75%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2636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BAD7E5"/>
                </a:solidFill>
              </a:rPr>
              <a:t>운영 비용 절감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5760720"/>
            <a:ext cx="2468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388CA8"/>
                </a:solidFill>
              </a:rPr>
              <a:t>24/7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62636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BAD7E5"/>
                </a:solidFill>
              </a:rPr>
              <a:t>상시 모니터링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5760720"/>
            <a:ext cx="2468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388CA8"/>
                </a:solidFill>
              </a:rPr>
              <a:t>100%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62636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BAD7E5"/>
                </a:solidFill>
              </a:rPr>
              <a:t>감사인 질의 대응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0" y="5760720"/>
            <a:ext cx="2468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388CA8"/>
                </a:solidFill>
              </a:rPr>
              <a:t>3종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0" y="62636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BAD7E5"/>
                </a:solidFill>
              </a:rPr>
              <a:t>통합 솔루션</a:t>
            </a:r>
          </a:p>
        </p:txBody>
      </p:sp>
      <p:pic>
        <p:nvPicPr>
          <p:cNvPr id="27" name="Picture 2">
            <a:extLst>
              <a:ext uri="{FF2B5EF4-FFF2-40B4-BE49-F238E27FC236}">
                <a16:creationId xmlns:a16="http://schemas.microsoft.com/office/drawing/2014/main" id="{F0DE8A86-7D9E-EC71-6957-CAAD3217F2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00290" y="89221"/>
            <a:ext cx="916619" cy="916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658</Words>
  <Application>Microsoft Office PowerPoint</Application>
  <PresentationFormat>사용자 지정</PresentationFormat>
  <Paragraphs>115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윤유주</cp:lastModifiedBy>
  <cp:revision>3</cp:revision>
  <dcterms:created xsi:type="dcterms:W3CDTF">2013-01-27T09:14:16Z</dcterms:created>
  <dcterms:modified xsi:type="dcterms:W3CDTF">2026-04-06T11:46:59Z</dcterms:modified>
  <cp:category/>
</cp:coreProperties>
</file>