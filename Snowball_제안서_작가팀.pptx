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943600" cy="5943600"/>
          </a:xfrm>
          <a:prstGeom prst="ellipse">
            <a:avLst/>
          </a:prstGeom>
          <a:solidFill>
            <a:srgbClr val="1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3200400"/>
            <a:ext cx="3657600" cy="3657600"/>
          </a:xfrm>
          <a:prstGeom prst="ellipse">
            <a:avLst/>
          </a:prstGeom>
          <a:solidFill>
            <a:srgbClr val="0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4864" cy="3474720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D7E5"/>
                </a:solidFill>
              </a:rPr>
              <a:t>Internal Control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당신의 내부통제팀에는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8CA8"/>
                </a:solidFill>
              </a:rPr>
              <a:t>지금 무엇이 빠져 있습니까?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AD7E5"/>
                </a:solidFill>
              </a:rPr>
              <a:t>IT 전문 인력, 체계적 시스템, 공시 대응 — 이 세 가지의 공백을
Snowball이 완벽하게 채워드립니다.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617720"/>
            <a:ext cx="2240280" cy="6583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663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19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전문가 컨설팅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617720"/>
            <a:ext cx="2240280" cy="658368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663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EAF5"/>
                </a:solidFill>
              </a:rPr>
              <a:t>Track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919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내부통제 시스템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4617720"/>
            <a:ext cx="2240280" cy="658368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663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EAF5"/>
                </a:solidFill>
              </a:rPr>
              <a:t>Track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919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정보보호공시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288"/>
                </a:solidFill>
              </a:rPr>
              <a:t>Snowball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내부통제팀이 마주한 불편한 진실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이중 하나라도 해당된다면, 이 제안서를 끝까지 읽으셔야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566160" cy="521208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566160" cy="64008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5265"/>
                </a:solidFill>
              </a:rPr>
              <a:t>감사 언어를 아는 IT 전문가,
구했습니까?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90672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단순 개발자가 아닌 감사 언어를 이해하는 IT 인력 채용은 사실상 불가능에 가깝습니다. 설령 채용해도 반복되는 과부하와 이직으로 통제 체계에 치명적인 공백이 생깁니다.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3566160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5661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128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아직도 엑셀로
내부통제를 하고 계십니까?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90672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수만 건의 데이터와 버전이 뒤섞인 엑셀 파일은 내부통제의 무덤입니다. 끝없는 취합 업무가 통제팀의 눈을 가리는 사이, 실질적인 결함 리스크가 자라고 있습니다.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566160" cy="5212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5661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75669"/>
                </a:solidFill>
              </a:rPr>
              <a:t>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1284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정보보호공시 마감일,
자신 있으십니까?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90672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</a:rPr>
              <a:t>투자액·인력 현황을 투명하게 공개해야 하는 의무는 이미 시작됐습니다. 데이터 정합성을 증명하지 못하면 기업 신뢰도에 돌이킬 수 없는 타격을 입습니다.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지금 이 순간에도 비용이 새고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채용·수동관리·공시 미비 — 세 가지 리스크가 만드는 기회비용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1206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연간 운영 비용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* 인건비 + 부대비용 포함 기준 (추정치)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</a:rPr>
              <a:t>전문가 직접 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2128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75669"/>
                </a:solidFill>
              </a:rPr>
              <a:t>연 약 1.2억 + 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42032"/>
            <a:ext cx="4480560" cy="384048"/>
          </a:xfrm>
          <a:prstGeom prst="rect">
            <a:avLst/>
          </a:prstGeom>
          <a:solidFill>
            <a:srgbClr val="A0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채용비 + 퇴직금 + 이직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06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265"/>
                </a:solidFill>
              </a:rPr>
              <a:t>Snowball 컨설팅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0906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C5265"/>
                </a:solidFill>
              </a:rPr>
              <a:t>연 약 0.3억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419856"/>
            <a:ext cx="1143000" cy="384048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3419856"/>
            <a:ext cx="3291840" cy="384048"/>
          </a:xfrm>
          <a:prstGeom prst="rect">
            <a:avLst/>
          </a:prstGeom>
          <a:solidFill>
            <a:srgbClr val="DC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34655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5265"/>
                </a:solidFill>
              </a:rPr>
              <a:t>인건비의 1/4 수준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05072"/>
            <a:ext cx="4480560" cy="658368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7822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연간 최대 9,000만원 절감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73168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475669"/>
                </a:solidFill>
              </a:rPr>
              <a:t>▪  채용 기간 공백 — 실무 투입까지 최소 3개월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475669"/>
                </a:solidFill>
              </a:rPr>
              <a:t>▪  이직 리스크 — 갑작스러운 퇴사 시 감사 대응 단절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475669"/>
                </a:solidFill>
              </a:rPr>
              <a:t>▪  엑셀 오류 — 결함 미발견으로 인한 감사 지적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743200" cy="640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6002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8CA8"/>
                </a:solidFill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운영 비용 절감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3258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325880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19" y="16002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</a:rPr>
              <a:t>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내부통제 모니터링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8404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384048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114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감사인 질의 대응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384048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3840480"/>
            <a:ext cx="2743200" cy="640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19" y="4114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18CF8"/>
                </a:solidFill>
              </a:rPr>
              <a:t>Zero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669"/>
                </a:solidFill>
              </a:rPr>
              <a:t>업무 단절 위험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Snowball의 세 가지 처방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AD7E5"/>
                </a:solidFill>
              </a:rPr>
              <a:t>하나씩 써도 되고, 셋을 함께 써도 됩니다. 귀사의 상황에 맞는 조합을 찾아드립니다.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3611880" cy="5074920"/>
          </a:xfrm>
          <a:prstGeom prst="rect">
            <a:avLst/>
          </a:prstGeom>
          <a:solidFill>
            <a:srgbClr val="14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11880" cy="640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777240" cy="2926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91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AD7E5"/>
                </a:solidFill>
              </a:rPr>
              <a:t>전문가 컨설팅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20년 베테랑이
오늘부터 귀사 직원입니다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54096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9992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연중 상시 밀착 지원 (월 정액)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11296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564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ITGC 설계·운영평가 전담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68495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136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외부감사 대응 무제한 포함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25695"/>
            <a:ext cx="54864" cy="20116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3708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PA 대비 1/4 비용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961888"/>
            <a:ext cx="3246120" cy="438912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0167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인력 부재 + 비용 최적화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1508760"/>
            <a:ext cx="3611880" cy="5074920"/>
          </a:xfrm>
          <a:prstGeom prst="rect">
            <a:avLst/>
          </a:prstGeom>
          <a:solidFill>
            <a:srgbClr val="14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508760"/>
            <a:ext cx="3611880" cy="6400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44568" y="1664208"/>
            <a:ext cx="777240" cy="29260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5" y="1691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Track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1691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AD7E5"/>
                </a:solidFill>
              </a:rPr>
              <a:t>내부통제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2029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엑셀 표류기를
끝낼 시간입니다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568" y="3054096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29992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ICFR 실시간 대시보드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44568" y="3511296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59" y="34564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RCM 중앙화 · 버전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44568" y="3968495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59" y="39136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통제 증빙 자동 집계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4568" y="4425695"/>
            <a:ext cx="54864" cy="201168"/>
          </a:xfrm>
          <a:prstGeom prst="rect">
            <a:avLst/>
          </a:prstGeom>
          <a:solidFill>
            <a:srgbClr val="228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43708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기존 엑셀 데이터 이관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4568" y="5961888"/>
            <a:ext cx="3246120" cy="438912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7" y="60167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8878"/>
                </a:solidFill>
              </a:rPr>
              <a:t>수동 탈출 + 가시성 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1508760"/>
            <a:ext cx="3611880" cy="5074920"/>
          </a:xfrm>
          <a:prstGeom prst="rect">
            <a:avLst/>
          </a:prstGeom>
          <a:solidFill>
            <a:srgbClr val="14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0456" y="1508760"/>
            <a:ext cx="36118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03336" y="1664208"/>
            <a:ext cx="77724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4" y="1691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Track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6" y="1691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AD7E5"/>
                </a:solidFill>
              </a:rPr>
              <a:t>정보보호공시 시스템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2029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공시 마감일,
당황하지 않는 회사의 비밀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3336" y="3054096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7928" y="29992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투자액·인력·인증 통합 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03336" y="3511296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67928" y="34564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공시 보고서 자동 생성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03336" y="3968495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67928" y="39136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Track B 데이터 자동 연동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3336" y="4425695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67928" y="4370831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의무화 완벽 대응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3336" y="5961888"/>
            <a:ext cx="3246120" cy="438912"/>
          </a:xfrm>
          <a:prstGeom prst="rect">
            <a:avLst/>
          </a:prstGeom>
          <a:solidFill>
            <a:srgbClr val="1E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94776" y="60167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공시 이행 + 리스크 제로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565392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A9ABB"/>
                </a:solidFill>
              </a:rPr>
              <a:t>* 컨설팅 비용은 정보보호 투자액으로 인정됩니다 — 서비스 도입만으로 공시 지표가 향상됩니다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C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말이 아니라 화면으로 보여드립니다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04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실제 운영 중인 시스템 화면 — Snowball의 약속은 이미 작동하고 있습니다.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114800" cy="1965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09159" y="129844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82312" y="152704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내부통제 실시간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216712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ICFR 전 영역 통제 현황 및 결함을 한눈에</a:t>
            </a:r>
          </a:p>
        </p:txBody>
      </p:sp>
      <p:pic>
        <p:nvPicPr>
          <p:cNvPr id="9" name="Picture 8" descr="r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98448"/>
            <a:ext cx="4114800" cy="1965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61320" y="129844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34472" y="152704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RCM 중앙화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4472" y="216712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엑셀 업로드·버전 관리·샘플링 자동화</a:t>
            </a:r>
          </a:p>
        </p:txBody>
      </p:sp>
      <p:pic>
        <p:nvPicPr>
          <p:cNvPr id="13" name="Picture 12" descr="infosd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95928"/>
            <a:ext cx="4114800" cy="1965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709159" y="399592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422452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공시 현황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486460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투자액·인력·인증 통합 진행률 관리</a:t>
            </a:r>
          </a:p>
        </p:txBody>
      </p:sp>
      <p:pic>
        <p:nvPicPr>
          <p:cNvPr id="17" name="Picture 16" descr="infosd_invest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995928"/>
            <a:ext cx="4114800" cy="19659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561320" y="3995928"/>
            <a:ext cx="1417320" cy="1965960"/>
          </a:xfrm>
          <a:prstGeom prst="rect">
            <a:avLst/>
          </a:prstGeom>
          <a:solidFill>
            <a:srgbClr val="E8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34472" y="422452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265"/>
                </a:solidFill>
              </a:rPr>
              <a:t>정보보호 투자액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4472" y="4864608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69"/>
                </a:solidFill>
              </a:rPr>
              <a:t>항목별 자동 집계 및 비율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8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논리로 감사인을 압도하는 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04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D7E5"/>
                </a:solidFill>
              </a:rPr>
              <a:t>자문만 하고 떠나는 전문가가 아닙니다 — 감사인의 판단을 바꾼 실전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3840480" cy="5257800"/>
          </a:xfrm>
          <a:prstGeom prst="rect">
            <a:avLst/>
          </a:prstGeom>
          <a:solidFill>
            <a:srgbClr val="1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3840480" cy="6400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D7E5"/>
                </a:solidFill>
              </a:rPr>
              <a:t>IT 10년  ·  감사 10년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현장과 감사를
동시에 통달한 전문가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40"/>
            <a:ext cx="54864" cy="4754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IT 현장 10년 — 시스템 아키텍처와 운영 리스크를 몸으로 압니다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584448"/>
            <a:ext cx="54864" cy="4754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감사 10년 — 감사인이 무엇을 보는지, 어디서 이슈를 잡는지 압니다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334256"/>
            <a:ext cx="54864" cy="4754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0"/>
                </a:solidFill>
              </a:rPr>
              <a:t>두 관점을 동시에 가진 전문가는 국내에 극소수입니다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298448"/>
            <a:ext cx="6903720" cy="1691640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4813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75669"/>
                </a:solidFill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49961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CA8"/>
                </a:solidFill>
              </a:rPr>
              <a:t>[규정 중심의 방어]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938528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CCDC"/>
                </a:solidFill>
              </a:rPr>
              <a:t>최신 ITGC 가이드라인과 기업 내부 규정을 완벽히 분석하여 감사인의 자의적 해석에 의한 부당한 감사 이슈를 원천 차단합니다.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3218688"/>
            <a:ext cx="6903720" cy="1691640"/>
          </a:xfrm>
          <a:prstGeom prst="rect">
            <a:avLst/>
          </a:prstGeom>
          <a:solidFill>
            <a:srgbClr val="16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015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75669"/>
                </a:solidFill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41985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CA8"/>
                </a:solidFill>
              </a:rPr>
              <a:t>[인과관계의 논리]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858768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CCDC"/>
                </a:solidFill>
              </a:rPr>
              <a:t>단편적 현상이 아닌 프로세스 전체의 인과관계를 입증하여 보완 통제의 실효성을 감사인에게 논리적으로 관철시킵니다.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5166360"/>
            <a:ext cx="6903720" cy="1389888"/>
          </a:xfrm>
          <a:prstGeom prst="rect">
            <a:avLst/>
          </a:prstGeom>
          <a:solidFill>
            <a:srgbClr val="0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5166360"/>
            <a:ext cx="274320" cy="1389888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52303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CA8"/>
                </a:solidFill>
              </a:rPr>
              <a:t>SUCCESS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555955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"미비점"으로 단정된 사항을 시스템 아키텍처 인과관계 입증으로 "정상 프로세스"로 인정받았습니다.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619963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AD7E5"/>
                </a:solidFill>
              </a:rPr>
              <a:t>— 감사인의 판단을 바꾼 실전 논리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224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1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822960"/>
            <a:ext cx="73152" cy="1645920"/>
          </a:xfrm>
          <a:prstGeom prst="rect">
            <a:avLst/>
          </a:prstGeom>
          <a:solidFill>
            <a:srgbClr val="3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868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"지적 후 수습하는 비용보다,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898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88CA8"/>
                </a:solidFill>
              </a:rPr>
              <a:t>믿음직한 실무 팀원을 곁에 두는 것이 훨씬 현명한 선택입니다."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지금 바로 시작하십시오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AD7E5"/>
                </a:solidFill>
              </a:rPr>
              <a:t>Snowball은 귀사의 첫 연락을 기다립니다.
현황 파악부터 맞춤 견적까지 — 무료 상담으로 시작하세요.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인력 공백 해소부터
시작하고 싶습니다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977639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069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Track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389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수동 관리를
시스템으로 바꾸고 싶습니다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977639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40690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CA8"/>
                </a:solidFill>
              </a:rPr>
              <a:t>Track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3891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265"/>
                </a:solidFill>
              </a:rPr>
              <a:t>공시 의무화,
지금 당장 대응하고 싶습니다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650992"/>
            <a:ext cx="12188952" cy="1207008"/>
          </a:xfrm>
          <a:prstGeom prst="rect">
            <a:avLst/>
          </a:prstGeom>
          <a:solidFill>
            <a:srgbClr val="1A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운영 비용 절감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상시 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감사인 질의 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76072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8CA8"/>
                </a:solidFill>
              </a:rPr>
              <a:t>3종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26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AD7E5"/>
                </a:solidFill>
              </a:rPr>
              <a:t>통합 솔루션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